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8" r:id="rId3"/>
    <p:sldId id="259" r:id="rId4"/>
    <p:sldId id="260" r:id="rId5"/>
    <p:sldId id="261" r:id="rId6"/>
    <p:sldId id="262" r:id="rId7"/>
    <p:sldId id="271" r:id="rId8"/>
    <p:sldId id="267" r:id="rId9"/>
    <p:sldId id="268" r:id="rId10"/>
    <p:sldId id="269" r:id="rId11"/>
    <p:sldId id="270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59" d="100"/>
          <a:sy n="59" d="100"/>
        </p:scale>
        <p:origin x="1500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90BCD38-3B3F-4E44-8936-77FFA0F0427A}" type="datetimeFigureOut">
              <a:rPr lang="en-IN" smtClean="0"/>
              <a:t>11-03-2026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61F43C3-184E-4AB7-B63B-4F07B6BCF1C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842063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1F43C3-184E-4AB7-B63B-4F07B6BCF1C1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7560102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1F9CA7-0EEE-F68E-DC1E-498AC707F5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2BCD56B-8603-FA04-E0B3-F5BCA292018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ABB3DAE-9C85-2E77-F404-D7C674B0E86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E992DE7-086E-9626-09DB-A91D7DB0358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1F43C3-184E-4AB7-B63B-4F07B6BCF1C1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8463294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1F43C3-184E-4AB7-B63B-4F07B6BCF1C1}" type="slidenum">
              <a:rPr lang="en-IN" smtClean="0"/>
              <a:t>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2937076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BgRect"/>
          <p:cNvSpPr>
            <a:spLocks noGrp="1"/>
          </p:cNvSpPr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1" name="AccentBar"/>
          <p:cNvSpPr>
            <a:spLocks noGrp="1"/>
          </p:cNvSpPr>
          <p:nvPr/>
        </p:nvSpPr>
        <p:spPr>
          <a:xfrm>
            <a:off x="0" y="0"/>
            <a:ext cx="9144000" cy="180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2" name="BottomBar"/>
          <p:cNvSpPr>
            <a:spLocks noGrp="1"/>
          </p:cNvSpPr>
          <p:nvPr/>
        </p:nvSpPr>
        <p:spPr>
          <a:xfrm>
            <a:off x="0" y="4963500"/>
            <a:ext cx="9144000" cy="18945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600000"/>
            <a:ext cx="8229600" cy="900000"/>
          </a:xfrm>
        </p:spPr>
        <p:txBody>
          <a:bodyPr anchor="ctr"/>
          <a:lstStyle/>
          <a:p>
            <a:pPr algn="ctr"/>
            <a:r>
              <a:rPr lang="en-US" sz="3600" b="1" dirty="0">
                <a:solidFill>
                  <a:srgbClr val="FFFFFF"/>
                </a:solidFill>
                <a:latin typeface="Calibri"/>
              </a:rPr>
              <a:t>Web Automation using Selenium with Python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50000"/>
            <a:ext cx="8229600" cy="3000000"/>
          </a:xfrm>
        </p:spPr>
        <p:txBody>
          <a:bodyPr anchor="ctr"/>
          <a:lstStyle/>
          <a:p>
            <a:pPr algn="ctr"/>
            <a:r>
              <a:rPr lang="en-US" sz="2000" b="0" dirty="0">
                <a:solidFill>
                  <a:srgbClr val="00B4D8"/>
                </a:solidFill>
                <a:latin typeface="Calibri"/>
              </a:rPr>
              <a:t>Capstone Project Presentation</a:t>
            </a:r>
          </a:p>
          <a:p>
            <a:endParaRPr dirty="0"/>
          </a:p>
          <a:p>
            <a:pPr algn="ctr"/>
            <a:r>
              <a:rPr lang="en-US" sz="1600" b="1" dirty="0">
                <a:solidFill>
                  <a:srgbClr val="CADCFC"/>
                </a:solidFill>
                <a:latin typeface="Calibri"/>
              </a:rPr>
              <a:t>Presented by: </a:t>
            </a:r>
            <a:r>
              <a:rPr lang="en-US" sz="1600" dirty="0">
                <a:solidFill>
                  <a:srgbClr val="FFFFFF"/>
                </a:solidFill>
                <a:latin typeface="Calibri"/>
              </a:rPr>
              <a:t>Alle Sujan Kumar Reddy</a:t>
            </a:r>
            <a:endParaRPr lang="en-US" sz="1600" b="0" dirty="0">
              <a:solidFill>
                <a:srgbClr val="FFFFFF"/>
              </a:solidFill>
              <a:latin typeface="Calibri"/>
            </a:endParaRPr>
          </a:p>
          <a:p>
            <a:pPr algn="ctr"/>
            <a:r>
              <a:rPr lang="en-US" sz="1600" b="1" dirty="0">
                <a:solidFill>
                  <a:srgbClr val="CADCFC"/>
                </a:solidFill>
                <a:latin typeface="Calibri"/>
              </a:rPr>
              <a:t>Course/Internship: </a:t>
            </a:r>
            <a:r>
              <a:rPr lang="en-US" sz="1600" dirty="0">
                <a:solidFill>
                  <a:schemeClr val="bg1"/>
                </a:solidFill>
                <a:latin typeface="Calibri"/>
              </a:rPr>
              <a:t>Selenium With</a:t>
            </a:r>
            <a:r>
              <a:rPr lang="en-US" sz="1600" dirty="0">
                <a:solidFill>
                  <a:srgbClr val="CADCFC"/>
                </a:solidFill>
                <a:latin typeface="Calibri"/>
              </a:rPr>
              <a:t> </a:t>
            </a:r>
            <a:r>
              <a:rPr lang="en-US" sz="1600" dirty="0">
                <a:solidFill>
                  <a:srgbClr val="FFFFFF"/>
                </a:solidFill>
                <a:latin typeface="Calibri"/>
              </a:rPr>
              <a:t>Python Automation</a:t>
            </a:r>
          </a:p>
          <a:p>
            <a:pPr algn="ctr"/>
            <a:r>
              <a:rPr lang="en-US" sz="1600" b="1" dirty="0">
                <a:solidFill>
                  <a:srgbClr val="CADCFC"/>
                </a:solidFill>
                <a:latin typeface="Calibri"/>
              </a:rPr>
              <a:t>Date: </a:t>
            </a:r>
            <a:r>
              <a:rPr lang="en-US" sz="1600" dirty="0">
                <a:solidFill>
                  <a:schemeClr val="bg1"/>
                </a:solidFill>
                <a:latin typeface="Calibri"/>
              </a:rPr>
              <a:t>11</a:t>
            </a:r>
            <a:r>
              <a:rPr lang="en-US" sz="1600" baseline="30000" dirty="0">
                <a:solidFill>
                  <a:schemeClr val="bg1"/>
                </a:solidFill>
                <a:latin typeface="Calibri"/>
              </a:rPr>
              <a:t>th</a:t>
            </a:r>
            <a:r>
              <a:rPr lang="en-US" sz="1600" dirty="0">
                <a:solidFill>
                  <a:schemeClr val="bg1"/>
                </a:solidFill>
                <a:latin typeface="Calibri"/>
              </a:rPr>
              <a:t> </a:t>
            </a:r>
            <a:r>
              <a:rPr lang="en-US" sz="1600" dirty="0">
                <a:solidFill>
                  <a:srgbClr val="FFFFFF"/>
                </a:solidFill>
                <a:latin typeface="Calibri"/>
              </a:rPr>
              <a:t>March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trip"/>
          <p:cNvSpPr>
            <a:spLocks noGrp="1"/>
          </p:cNvSpPr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200000"/>
            <a:ext cx="8458800" cy="580000"/>
          </a:xfrm>
        </p:spPr>
        <p:txBody>
          <a:bodyPr anchor="ctr"/>
          <a:lstStyle/>
          <a:p>
            <a:r>
              <a:rPr lang="en-US" sz="3200" b="1" dirty="0">
                <a:solidFill>
                  <a:srgbClr val="0D1B2A"/>
                </a:solidFill>
                <a:latin typeface="Calibri"/>
              </a:rPr>
              <a:t>Problem Statement</a:t>
            </a:r>
          </a:p>
        </p:txBody>
      </p:sp>
      <p:sp>
        <p:nvSpPr>
          <p:cNvPr id="20" name="Box1"/>
          <p:cNvSpPr>
            <a:spLocks noGrp="1"/>
          </p:cNvSpPr>
          <p:nvPr/>
        </p:nvSpPr>
        <p:spPr>
          <a:xfrm>
            <a:off x="342900" y="950000"/>
            <a:ext cx="3900000" cy="1700000"/>
          </a:xfrm>
          <a:prstGeom prst="roundRect">
            <a:avLst>
              <a:gd name="adj" fmla="val 20000"/>
            </a:avLst>
          </a:prstGeom>
          <a:solidFill>
            <a:srgbClr val="EAF4FB"/>
          </a:solidFill>
          <a:ln w="25400">
            <a:solidFill>
              <a:srgbClr val="00B4D8"/>
            </a:solidFill>
          </a:ln>
        </p:spPr>
        <p:txBody>
          <a:bodyPr wrap="square" lIns="180000" tIns="180000" rIns="180000" bIns="180000"/>
          <a:lstStyle/>
          <a:p>
            <a:r>
              <a:rPr lang="en-US" sz="1400" b="1" dirty="0">
                <a:solidFill>
                  <a:srgbClr val="00B4D8"/>
                </a:solidFill>
                <a:latin typeface="Calibri"/>
              </a:rPr>
              <a:t>Manual Testing is Slow</a:t>
            </a:r>
          </a:p>
          <a:p>
            <a:endParaRPr/>
          </a:p>
          <a:p>
            <a:r>
              <a:rPr lang="en-US" sz="1200" b="0" dirty="0">
                <a:solidFill>
                  <a:srgbClr val="1A1A2E"/>
                </a:solidFill>
                <a:latin typeface="Calibri"/>
              </a:rPr>
              <a:t>Flight booking on phptravels.net requires repetitive manual steps for every test scenario, making it error-prone and time-consuming.</a:t>
            </a:r>
          </a:p>
        </p:txBody>
      </p:sp>
      <p:sp>
        <p:nvSpPr>
          <p:cNvPr id="21" name="Box2"/>
          <p:cNvSpPr>
            <a:spLocks noGrp="1"/>
          </p:cNvSpPr>
          <p:nvPr/>
        </p:nvSpPr>
        <p:spPr>
          <a:xfrm>
            <a:off x="4700000" y="950000"/>
            <a:ext cx="4100000" cy="1700000"/>
          </a:xfrm>
          <a:prstGeom prst="roundRect">
            <a:avLst>
              <a:gd name="adj" fmla="val 20000"/>
            </a:avLst>
          </a:prstGeom>
          <a:solidFill>
            <a:srgbClr val="EAF4FB"/>
          </a:solidFill>
          <a:ln w="25400">
            <a:solidFill>
              <a:srgbClr val="00B4D8"/>
            </a:solidFill>
          </a:ln>
        </p:spPr>
        <p:txBody>
          <a:bodyPr wrap="square" lIns="180000" tIns="180000" rIns="180000" bIns="180000"/>
          <a:lstStyle/>
          <a:p>
            <a:r>
              <a:rPr lang="en-US" sz="1400" b="1" dirty="0">
                <a:solidFill>
                  <a:srgbClr val="00B4D8"/>
                </a:solidFill>
                <a:latin typeface="Calibri"/>
              </a:rPr>
              <a:t>No Regression Coverage</a:t>
            </a:r>
          </a:p>
          <a:p>
            <a:endParaRPr/>
          </a:p>
          <a:p>
            <a:r>
              <a:rPr lang="en-US" sz="1200" b="0" dirty="0">
                <a:solidFill>
                  <a:srgbClr val="1A1A2E"/>
                </a:solidFill>
                <a:latin typeface="Calibri"/>
              </a:rPr>
              <a:t>No automated suite to validate end-to-end booking flows — regressions go undetected across one-way and round-trip journeys.</a:t>
            </a:r>
          </a:p>
        </p:txBody>
      </p:sp>
      <p:sp>
        <p:nvSpPr>
          <p:cNvPr id="22" name="Box3"/>
          <p:cNvSpPr>
            <a:spLocks noGrp="1"/>
          </p:cNvSpPr>
          <p:nvPr/>
        </p:nvSpPr>
        <p:spPr>
          <a:xfrm>
            <a:off x="342900" y="2800000"/>
            <a:ext cx="3900000" cy="1700000"/>
          </a:xfrm>
          <a:prstGeom prst="roundRect">
            <a:avLst>
              <a:gd name="adj" fmla="val 20000"/>
            </a:avLst>
          </a:prstGeom>
          <a:solidFill>
            <a:srgbClr val="EAF4FB"/>
          </a:solidFill>
          <a:ln w="25400">
            <a:solidFill>
              <a:srgbClr val="00B4D8"/>
            </a:solidFill>
          </a:ln>
        </p:spPr>
        <p:txBody>
          <a:bodyPr wrap="square" lIns="180000" tIns="180000" rIns="180000" bIns="180000"/>
          <a:lstStyle/>
          <a:p>
            <a:r>
              <a:rPr lang="en-US" sz="1400" b="1" dirty="0">
                <a:solidFill>
                  <a:srgbClr val="00B4D8"/>
                </a:solidFill>
                <a:latin typeface="Calibri"/>
              </a:rPr>
              <a:t>Complex Multi-Step Flows</a:t>
            </a:r>
          </a:p>
          <a:p>
            <a:endParaRPr/>
          </a:p>
          <a:p>
            <a:r>
              <a:rPr lang="en-US" sz="1200" b="0" dirty="0">
                <a:solidFill>
                  <a:srgbClr val="1A1A2E"/>
                </a:solidFill>
                <a:latin typeface="Calibri"/>
              </a:rPr>
              <a:t>Search to Stripe Payment is a complex 9-step flow requiring robust automation with dynamic element and iframe handling.</a:t>
            </a:r>
          </a:p>
        </p:txBody>
      </p:sp>
      <p:sp>
        <p:nvSpPr>
          <p:cNvPr id="23" name="Box4"/>
          <p:cNvSpPr>
            <a:spLocks noGrp="1"/>
          </p:cNvSpPr>
          <p:nvPr/>
        </p:nvSpPr>
        <p:spPr>
          <a:xfrm>
            <a:off x="4700000" y="2800000"/>
            <a:ext cx="4100000" cy="1700000"/>
          </a:xfrm>
          <a:prstGeom prst="roundRect">
            <a:avLst>
              <a:gd name="adj" fmla="val 20000"/>
            </a:avLst>
          </a:prstGeom>
          <a:solidFill>
            <a:srgbClr val="EAF4FB"/>
          </a:solidFill>
          <a:ln w="25400">
            <a:solidFill>
              <a:srgbClr val="00B4D8"/>
            </a:solidFill>
          </a:ln>
        </p:spPr>
        <p:txBody>
          <a:bodyPr wrap="square" lIns="180000" tIns="180000" rIns="180000" bIns="180000"/>
          <a:lstStyle/>
          <a:p>
            <a:r>
              <a:rPr lang="en-US" sz="1400" b="1" dirty="0">
                <a:solidFill>
                  <a:srgbClr val="00B4D8"/>
                </a:solidFill>
                <a:latin typeface="Calibri"/>
              </a:rPr>
              <a:t>Need for Structured Framework</a:t>
            </a:r>
          </a:p>
          <a:p>
            <a:endParaRPr/>
          </a:p>
          <a:p>
            <a:r>
              <a:rPr lang="en-US" sz="1200" b="0" dirty="0">
                <a:solidFill>
                  <a:srgbClr val="1A1A2E"/>
                </a:solidFill>
                <a:latin typeface="Calibri"/>
              </a:rPr>
              <a:t>A reusable, maintainable Page Object Model framework with Excel test data and HTML reporting was needed.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trip"/>
          <p:cNvSpPr>
            <a:spLocks noGrp="1"/>
          </p:cNvSpPr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200000"/>
            <a:ext cx="8458800" cy="580000"/>
          </a:xfrm>
        </p:spPr>
        <p:txBody>
          <a:bodyPr anchor="ctr"/>
          <a:lstStyle/>
          <a:p>
            <a:r>
              <a:rPr lang="en-US" sz="3200" b="1" dirty="0">
                <a:solidFill>
                  <a:srgbClr val="0D1B2A"/>
                </a:solidFill>
                <a:latin typeface="Calibri"/>
              </a:rPr>
              <a:t>Project Objectives</a:t>
            </a:r>
          </a:p>
        </p:txBody>
      </p:sp>
      <p:sp>
        <p:nvSpPr>
          <p:cNvPr id="20" name="O1"/>
          <p:cNvSpPr>
            <a:spLocks noGrp="1"/>
          </p:cNvSpPr>
          <p:nvPr/>
        </p:nvSpPr>
        <p:spPr>
          <a:xfrm>
            <a:off x="342900" y="920000"/>
            <a:ext cx="4000000" cy="1050000"/>
          </a:xfrm>
          <a:prstGeom prst="roundRect">
            <a:avLst>
              <a:gd name="adj" fmla="val 16667"/>
            </a:avLst>
          </a:prstGeom>
          <a:solidFill>
            <a:srgbClr val="0D1B2A"/>
          </a:solidFill>
          <a:ln>
            <a:noFill/>
          </a:ln>
        </p:spPr>
        <p:txBody>
          <a:bodyPr wrap="square" lIns="200000" tIns="150000" rIns="180000" bIns="150000"/>
          <a:lstStyle/>
          <a:p>
            <a:r>
              <a:rPr lang="en-US" sz="1200" b="1" dirty="0">
                <a:solidFill>
                  <a:srgbClr val="00B4D8"/>
                </a:solidFill>
                <a:latin typeface="Calibri"/>
              </a:rPr>
              <a:t>01  Build Page Object Model Framework</a:t>
            </a:r>
          </a:p>
          <a:p>
            <a:r>
              <a:rPr lang="en-US" sz="1100" b="0" dirty="0">
                <a:solidFill>
                  <a:srgbClr val="CADCFC"/>
                </a:solidFill>
                <a:latin typeface="Calibri"/>
              </a:rPr>
              <a:t>Implement reusable POM with BasePage, FlightSearchPage, BookingPage, PaymentPage</a:t>
            </a:r>
          </a:p>
        </p:txBody>
      </p:sp>
      <p:sp>
        <p:nvSpPr>
          <p:cNvPr id="21" name="O2"/>
          <p:cNvSpPr>
            <a:spLocks noGrp="1"/>
          </p:cNvSpPr>
          <p:nvPr/>
        </p:nvSpPr>
        <p:spPr>
          <a:xfrm>
            <a:off x="4800000" y="920000"/>
            <a:ext cx="4100000" cy="1050000"/>
          </a:xfrm>
          <a:prstGeom prst="roundRect">
            <a:avLst>
              <a:gd name="adj" fmla="val 16667"/>
            </a:avLst>
          </a:prstGeom>
          <a:solidFill>
            <a:srgbClr val="0D1B2A"/>
          </a:solidFill>
          <a:ln>
            <a:noFill/>
          </a:ln>
        </p:spPr>
        <p:txBody>
          <a:bodyPr wrap="square" lIns="200000" tIns="150000" rIns="180000" bIns="150000"/>
          <a:lstStyle/>
          <a:p>
            <a:r>
              <a:rPr lang="en-US" sz="1200" b="1" dirty="0">
                <a:solidFill>
                  <a:srgbClr val="00B4D8"/>
                </a:solidFill>
                <a:latin typeface="Calibri"/>
              </a:rPr>
              <a:t>02  Automate 12 Test Cases</a:t>
            </a:r>
          </a:p>
          <a:p>
            <a:r>
              <a:rPr lang="en-US" sz="1100" b="0" dirty="0">
                <a:solidFill>
                  <a:srgbClr val="CADCFC"/>
                </a:solidFill>
                <a:latin typeface="Calibri"/>
              </a:rPr>
              <a:t>TC-01 to TC-12 covering smoke, one-way, round-trip, and end-to-end booking flows</a:t>
            </a:r>
          </a:p>
        </p:txBody>
      </p:sp>
      <p:sp>
        <p:nvSpPr>
          <p:cNvPr id="22" name="O3"/>
          <p:cNvSpPr>
            <a:spLocks noGrp="1"/>
          </p:cNvSpPr>
          <p:nvPr/>
        </p:nvSpPr>
        <p:spPr>
          <a:xfrm>
            <a:off x="342900" y="2100000"/>
            <a:ext cx="4000000" cy="1050000"/>
          </a:xfrm>
          <a:prstGeom prst="roundRect">
            <a:avLst>
              <a:gd name="adj" fmla="val 16667"/>
            </a:avLst>
          </a:prstGeom>
          <a:solidFill>
            <a:srgbClr val="0D1B2A"/>
          </a:solidFill>
          <a:ln>
            <a:noFill/>
          </a:ln>
        </p:spPr>
        <p:txBody>
          <a:bodyPr wrap="square" lIns="200000" tIns="150000" rIns="180000" bIns="150000"/>
          <a:lstStyle/>
          <a:p>
            <a:r>
              <a:rPr lang="en-US" sz="1200" b="1" dirty="0">
                <a:solidFill>
                  <a:srgbClr val="00B4D8"/>
                </a:solidFill>
                <a:latin typeface="Calibri"/>
              </a:rPr>
              <a:t>03  Excel-Driven Test Data</a:t>
            </a:r>
          </a:p>
          <a:p>
            <a:r>
              <a:rPr lang="en-US" sz="1100" b="0" dirty="0">
                <a:solidFill>
                  <a:srgbClr val="CADCFC"/>
                </a:solidFill>
                <a:latin typeface="Calibri"/>
              </a:rPr>
              <a:t>Manage test data via openpyxl with separate sheets for OneWayFlight and RoundTripFlight</a:t>
            </a:r>
          </a:p>
        </p:txBody>
      </p:sp>
      <p:sp>
        <p:nvSpPr>
          <p:cNvPr id="23" name="O4"/>
          <p:cNvSpPr>
            <a:spLocks noGrp="1"/>
          </p:cNvSpPr>
          <p:nvPr/>
        </p:nvSpPr>
        <p:spPr>
          <a:xfrm>
            <a:off x="4800000" y="2100000"/>
            <a:ext cx="4100000" cy="1050000"/>
          </a:xfrm>
          <a:prstGeom prst="roundRect">
            <a:avLst>
              <a:gd name="adj" fmla="val 16667"/>
            </a:avLst>
          </a:prstGeom>
          <a:solidFill>
            <a:srgbClr val="0D1B2A"/>
          </a:solidFill>
          <a:ln>
            <a:noFill/>
          </a:ln>
        </p:spPr>
        <p:txBody>
          <a:bodyPr wrap="square" lIns="200000" tIns="150000" rIns="180000" bIns="150000"/>
          <a:lstStyle/>
          <a:p>
            <a:r>
              <a:rPr lang="en-US" sz="1200" b="1" dirty="0">
                <a:solidFill>
                  <a:srgbClr val="00B4D8"/>
                </a:solidFill>
                <a:latin typeface="Calibri"/>
              </a:rPr>
              <a:t>04  Stripe Payment Integration</a:t>
            </a:r>
          </a:p>
          <a:p>
            <a:r>
              <a:rPr lang="en-US" sz="1100" b="0" dirty="0">
                <a:solidFill>
                  <a:srgbClr val="CADCFC"/>
                </a:solidFill>
                <a:latin typeface="Calibri"/>
              </a:rPr>
              <a:t>Automate Stripe card entry, form submission, and verify payment confirmation on invoice page</a:t>
            </a:r>
          </a:p>
        </p:txBody>
      </p:sp>
      <p:sp>
        <p:nvSpPr>
          <p:cNvPr id="24" name="O5"/>
          <p:cNvSpPr>
            <a:spLocks noGrp="1"/>
          </p:cNvSpPr>
          <p:nvPr/>
        </p:nvSpPr>
        <p:spPr>
          <a:xfrm>
            <a:off x="342900" y="3280000"/>
            <a:ext cx="4000000" cy="1050000"/>
          </a:xfrm>
          <a:prstGeom prst="roundRect">
            <a:avLst>
              <a:gd name="adj" fmla="val 16667"/>
            </a:avLst>
          </a:prstGeom>
          <a:solidFill>
            <a:srgbClr val="0D1B2A"/>
          </a:solidFill>
          <a:ln>
            <a:noFill/>
          </a:ln>
        </p:spPr>
        <p:txBody>
          <a:bodyPr wrap="square" lIns="200000" tIns="150000" rIns="180000" bIns="150000"/>
          <a:lstStyle/>
          <a:p>
            <a:r>
              <a:rPr lang="en-US" sz="1200" b="1" dirty="0">
                <a:solidFill>
                  <a:srgbClr val="00B4D8"/>
                </a:solidFill>
                <a:latin typeface="Calibri"/>
              </a:rPr>
              <a:t>05  HTML Reports and Screenshots</a:t>
            </a:r>
          </a:p>
          <a:p>
            <a:r>
              <a:rPr lang="en-US" sz="1100" b="0" dirty="0">
                <a:solidFill>
                  <a:srgbClr val="CADCFC"/>
                </a:solidFill>
                <a:latin typeface="Calibri"/>
              </a:rPr>
              <a:t>Generate pytest-html reports with screenshots captured at each step for traceability</a:t>
            </a:r>
          </a:p>
        </p:txBody>
      </p:sp>
      <p:sp>
        <p:nvSpPr>
          <p:cNvPr id="25" name="O6"/>
          <p:cNvSpPr>
            <a:spLocks noGrp="1"/>
          </p:cNvSpPr>
          <p:nvPr/>
        </p:nvSpPr>
        <p:spPr>
          <a:xfrm>
            <a:off x="4800000" y="3280000"/>
            <a:ext cx="4100000" cy="1050000"/>
          </a:xfrm>
          <a:prstGeom prst="roundRect">
            <a:avLst>
              <a:gd name="adj" fmla="val 16667"/>
            </a:avLst>
          </a:prstGeom>
          <a:solidFill>
            <a:srgbClr val="0D1B2A"/>
          </a:solidFill>
          <a:ln>
            <a:noFill/>
          </a:ln>
        </p:spPr>
        <p:txBody>
          <a:bodyPr wrap="square" lIns="200000" tIns="150000" rIns="180000" bIns="150000"/>
          <a:lstStyle/>
          <a:p>
            <a:r>
              <a:rPr lang="en-US" sz="1200" b="1" dirty="0">
                <a:solidFill>
                  <a:srgbClr val="00B4D8"/>
                </a:solidFill>
                <a:latin typeface="Calibri"/>
              </a:rPr>
              <a:t>06  Parallel Test Execution</a:t>
            </a:r>
          </a:p>
          <a:p>
            <a:r>
              <a:rPr lang="en-US" sz="1100" b="0" dirty="0">
                <a:solidFill>
                  <a:srgbClr val="CADCFC"/>
                </a:solidFill>
                <a:latin typeface="Calibri"/>
              </a:rPr>
              <a:t>Support pytest-xdist parallel execution with isolated Chrome sessions per worker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trip"/>
          <p:cNvSpPr>
            <a:spLocks noGrp="1"/>
          </p:cNvSpPr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200000"/>
            <a:ext cx="8458800" cy="580000"/>
          </a:xfrm>
        </p:spPr>
        <p:txBody>
          <a:bodyPr anchor="ctr"/>
          <a:lstStyle/>
          <a:p>
            <a:r>
              <a:rPr lang="en-US" sz="3200" b="1" dirty="0">
                <a:solidFill>
                  <a:srgbClr val="0D1B2A"/>
                </a:solidFill>
                <a:latin typeface="Calibri"/>
              </a:rPr>
              <a:t>Tools and Technologies Used</a:t>
            </a:r>
          </a:p>
        </p:txBody>
      </p:sp>
      <p:sp>
        <p:nvSpPr>
          <p:cNvPr id="20" name="T1"/>
          <p:cNvSpPr>
            <a:spLocks noGrp="1"/>
          </p:cNvSpPr>
          <p:nvPr/>
        </p:nvSpPr>
        <p:spPr>
          <a:xfrm>
            <a:off x="342900" y="900000"/>
            <a:ext cx="2600000" cy="1250000"/>
          </a:xfrm>
          <a:prstGeom prst="roundRect">
            <a:avLst>
              <a:gd name="adj" fmla="val 16667"/>
            </a:avLst>
          </a:prstGeom>
          <a:solidFill>
            <a:srgbClr val="306998"/>
          </a:solidFill>
          <a:ln>
            <a:noFill/>
          </a:ln>
        </p:spPr>
        <p:txBody>
          <a:bodyPr lIns="180000" tIns="120000" rIns="180000" bIns="120000" anchor="ctr"/>
          <a:lstStyle/>
          <a:p>
            <a:pPr algn="ctr"/>
            <a:r>
              <a:rPr lang="en-US" sz="1800" b="1" dirty="0">
                <a:solidFill>
                  <a:srgbClr val="FFFFFF"/>
                </a:solidFill>
                <a:latin typeface="Calibri"/>
              </a:rPr>
              <a:t>Python 3.13</a:t>
            </a:r>
          </a:p>
          <a:p>
            <a:pPr algn="ctr"/>
            <a:r>
              <a:rPr lang="en-US" sz="1100" b="0" dirty="0">
                <a:solidFill>
                  <a:srgbClr val="FFD43B"/>
                </a:solidFill>
                <a:latin typeface="Calibri"/>
              </a:rPr>
              <a:t>Core Language</a:t>
            </a:r>
          </a:p>
        </p:txBody>
      </p:sp>
      <p:sp>
        <p:nvSpPr>
          <p:cNvPr id="21" name="T2"/>
          <p:cNvSpPr>
            <a:spLocks noGrp="1"/>
          </p:cNvSpPr>
          <p:nvPr/>
        </p:nvSpPr>
        <p:spPr>
          <a:xfrm>
            <a:off x="3120000" y="900000"/>
            <a:ext cx="2600000" cy="1250000"/>
          </a:xfrm>
          <a:prstGeom prst="roundRect">
            <a:avLst>
              <a:gd name="adj" fmla="val 16667"/>
            </a:avLst>
          </a:prstGeom>
          <a:solidFill>
            <a:srgbClr val="43B02A"/>
          </a:solidFill>
          <a:ln>
            <a:noFill/>
          </a:ln>
        </p:spPr>
        <p:txBody>
          <a:bodyPr lIns="180000" tIns="120000" rIns="180000" bIns="120000" anchor="ctr"/>
          <a:lstStyle/>
          <a:p>
            <a:pPr algn="ctr"/>
            <a:r>
              <a:rPr lang="en-US" sz="1800" b="1" dirty="0">
                <a:solidFill>
                  <a:srgbClr val="FFFFFF"/>
                </a:solidFill>
                <a:latin typeface="Calibri"/>
              </a:rPr>
              <a:t>Selenium 4.18</a:t>
            </a:r>
          </a:p>
          <a:p>
            <a:pPr algn="ctr"/>
            <a:r>
              <a:rPr lang="en-US" sz="1100" b="0" dirty="0">
                <a:solidFill>
                  <a:srgbClr val="FFFFFF"/>
                </a:solidFill>
                <a:latin typeface="Calibri"/>
              </a:rPr>
              <a:t>Browser Automation</a:t>
            </a:r>
          </a:p>
        </p:txBody>
      </p:sp>
      <p:sp>
        <p:nvSpPr>
          <p:cNvPr id="22" name="T3"/>
          <p:cNvSpPr>
            <a:spLocks noGrp="1"/>
          </p:cNvSpPr>
          <p:nvPr/>
        </p:nvSpPr>
        <p:spPr>
          <a:xfrm>
            <a:off x="5900000" y="900000"/>
            <a:ext cx="2600000" cy="1250000"/>
          </a:xfrm>
          <a:prstGeom prst="roundRect">
            <a:avLst>
              <a:gd name="adj" fmla="val 16667"/>
            </a:avLst>
          </a:prstGeom>
          <a:solidFill>
            <a:srgbClr val="009688"/>
          </a:solidFill>
          <a:ln>
            <a:noFill/>
          </a:ln>
        </p:spPr>
        <p:txBody>
          <a:bodyPr lIns="180000" tIns="120000" rIns="180000" bIns="120000" anchor="ctr"/>
          <a:lstStyle/>
          <a:p>
            <a:pPr algn="ctr"/>
            <a:r>
              <a:rPr lang="en-US" sz="1800" b="1" dirty="0">
                <a:solidFill>
                  <a:srgbClr val="FFFFFF"/>
                </a:solidFill>
                <a:latin typeface="Calibri"/>
              </a:rPr>
              <a:t>Pytest 8.1</a:t>
            </a:r>
          </a:p>
          <a:p>
            <a:pPr algn="ctr"/>
            <a:r>
              <a:rPr lang="en-US" sz="1100" b="0" dirty="0">
                <a:solidFill>
                  <a:srgbClr val="FFFFFF"/>
                </a:solidFill>
                <a:latin typeface="Calibri"/>
              </a:rPr>
              <a:t>Test Framework</a:t>
            </a:r>
          </a:p>
        </p:txBody>
      </p:sp>
      <p:sp>
        <p:nvSpPr>
          <p:cNvPr id="23" name="T4"/>
          <p:cNvSpPr>
            <a:spLocks noGrp="1"/>
          </p:cNvSpPr>
          <p:nvPr/>
        </p:nvSpPr>
        <p:spPr>
          <a:xfrm>
            <a:off x="342900" y="2320000"/>
            <a:ext cx="1900000" cy="1050000"/>
          </a:xfrm>
          <a:prstGeom prst="roundRect">
            <a:avLst>
              <a:gd name="adj" fmla="val 16667"/>
            </a:avLst>
          </a:prstGeom>
          <a:solidFill>
            <a:srgbClr val="217346"/>
          </a:solidFill>
          <a:ln>
            <a:noFill/>
          </a:ln>
        </p:spPr>
        <p:txBody>
          <a:bodyPr lIns="120000" tIns="100000" rIns="120000" bIns="100000" anchor="ctr"/>
          <a:lstStyle/>
          <a:p>
            <a:pPr algn="ctr"/>
            <a:r>
              <a:rPr lang="en-US" sz="1300" b="1" dirty="0">
                <a:solidFill>
                  <a:srgbClr val="FFFFFF"/>
                </a:solidFill>
                <a:latin typeface="Calibri"/>
              </a:rPr>
              <a:t>openpyxl</a:t>
            </a:r>
          </a:p>
          <a:p>
            <a:pPr algn="ctr"/>
            <a:r>
              <a:rPr lang="en-US" sz="1000" b="0" dirty="0">
                <a:solidFill>
                  <a:srgbClr val="FFFFFF"/>
                </a:solidFill>
                <a:latin typeface="Calibri"/>
              </a:rPr>
              <a:t>Excel Test Data</a:t>
            </a:r>
          </a:p>
        </p:txBody>
      </p:sp>
      <p:sp>
        <p:nvSpPr>
          <p:cNvPr id="24" name="T5"/>
          <p:cNvSpPr>
            <a:spLocks noGrp="1"/>
          </p:cNvSpPr>
          <p:nvPr/>
        </p:nvSpPr>
        <p:spPr>
          <a:xfrm>
            <a:off x="2430000" y="2320000"/>
            <a:ext cx="1900000" cy="1050000"/>
          </a:xfrm>
          <a:prstGeom prst="roundRect">
            <a:avLst>
              <a:gd name="adj" fmla="val 16667"/>
            </a:avLst>
          </a:prstGeom>
          <a:solidFill>
            <a:srgbClr val="E05C00"/>
          </a:solidFill>
          <a:ln>
            <a:noFill/>
          </a:ln>
        </p:spPr>
        <p:txBody>
          <a:bodyPr lIns="120000" tIns="100000" rIns="120000" bIns="100000" anchor="ctr"/>
          <a:lstStyle/>
          <a:p>
            <a:pPr algn="ctr"/>
            <a:r>
              <a:rPr lang="en-US" sz="1300" b="1" dirty="0">
                <a:solidFill>
                  <a:srgbClr val="FFFFFF"/>
                </a:solidFill>
                <a:latin typeface="Calibri"/>
              </a:rPr>
              <a:t>pytest-html</a:t>
            </a:r>
          </a:p>
          <a:p>
            <a:pPr algn="ctr"/>
            <a:r>
              <a:rPr lang="en-US" sz="1000" b="0" dirty="0">
                <a:solidFill>
                  <a:srgbClr val="FFFFFF"/>
                </a:solidFill>
                <a:latin typeface="Calibri"/>
              </a:rPr>
              <a:t>HTML Reports</a:t>
            </a:r>
          </a:p>
        </p:txBody>
      </p:sp>
      <p:sp>
        <p:nvSpPr>
          <p:cNvPr id="25" name="T6"/>
          <p:cNvSpPr>
            <a:spLocks noGrp="1"/>
          </p:cNvSpPr>
          <p:nvPr/>
        </p:nvSpPr>
        <p:spPr>
          <a:xfrm>
            <a:off x="4510000" y="2320000"/>
            <a:ext cx="1900000" cy="1050000"/>
          </a:xfrm>
          <a:prstGeom prst="roundRect">
            <a:avLst>
              <a:gd name="adj" fmla="val 16667"/>
            </a:avLst>
          </a:prstGeom>
          <a:solidFill>
            <a:srgbClr val="7B1FA2"/>
          </a:solidFill>
          <a:ln>
            <a:noFill/>
          </a:ln>
        </p:spPr>
        <p:txBody>
          <a:bodyPr lIns="120000" tIns="100000" rIns="120000" bIns="100000" anchor="ctr"/>
          <a:lstStyle/>
          <a:p>
            <a:pPr algn="ctr"/>
            <a:r>
              <a:rPr lang="en-US" sz="1300" b="1" dirty="0">
                <a:solidFill>
                  <a:srgbClr val="FFFFFF"/>
                </a:solidFill>
                <a:latin typeface="Calibri"/>
              </a:rPr>
              <a:t>pytest-xdist</a:t>
            </a:r>
          </a:p>
          <a:p>
            <a:pPr algn="ctr"/>
            <a:r>
              <a:rPr lang="en-US" sz="1000" b="0" dirty="0">
                <a:solidFill>
                  <a:srgbClr val="FFFFFF"/>
                </a:solidFill>
                <a:latin typeface="Calibri"/>
              </a:rPr>
              <a:t>Parallel Execution</a:t>
            </a:r>
          </a:p>
        </p:txBody>
      </p:sp>
      <p:sp>
        <p:nvSpPr>
          <p:cNvPr id="26" name="T7"/>
          <p:cNvSpPr>
            <a:spLocks noGrp="1"/>
          </p:cNvSpPr>
          <p:nvPr/>
        </p:nvSpPr>
        <p:spPr>
          <a:xfrm>
            <a:off x="6590000" y="2320000"/>
            <a:ext cx="2100000" cy="1050000"/>
          </a:xfrm>
          <a:prstGeom prst="roundRect">
            <a:avLst>
              <a:gd name="adj" fmla="val 16667"/>
            </a:avLst>
          </a:prstGeom>
          <a:solidFill>
            <a:srgbClr val="1565C0"/>
          </a:solidFill>
          <a:ln>
            <a:noFill/>
          </a:ln>
        </p:spPr>
        <p:txBody>
          <a:bodyPr lIns="120000" tIns="100000" rIns="120000" bIns="100000" anchor="ctr"/>
          <a:lstStyle/>
          <a:p>
            <a:pPr algn="ctr"/>
            <a:r>
              <a:rPr lang="en-US" sz="1300" b="1" dirty="0">
                <a:solidFill>
                  <a:srgbClr val="FFFFFF"/>
                </a:solidFill>
                <a:latin typeface="Calibri"/>
              </a:rPr>
              <a:t>webdriver-manager</a:t>
            </a:r>
          </a:p>
          <a:p>
            <a:pPr algn="ctr"/>
            <a:r>
              <a:rPr lang="en-US" sz="1000" b="0" dirty="0">
                <a:solidFill>
                  <a:srgbClr val="FFFFFF"/>
                </a:solidFill>
                <a:latin typeface="Calibri"/>
              </a:rPr>
              <a:t>ChromeDriver Setup</a:t>
            </a:r>
          </a:p>
        </p:txBody>
      </p:sp>
      <p:sp>
        <p:nvSpPr>
          <p:cNvPr id="27" name="T8"/>
          <p:cNvSpPr>
            <a:spLocks noGrp="1"/>
          </p:cNvSpPr>
          <p:nvPr/>
        </p:nvSpPr>
        <p:spPr>
          <a:xfrm>
            <a:off x="342900" y="3530000"/>
            <a:ext cx="4000000" cy="1000000"/>
          </a:xfrm>
          <a:prstGeom prst="roundRect">
            <a:avLst>
              <a:gd name="adj" fmla="val 16667"/>
            </a:avLst>
          </a:prstGeom>
          <a:solidFill>
            <a:srgbClr val="EAF4FB"/>
          </a:solidFill>
          <a:ln w="25400">
            <a:solidFill>
              <a:srgbClr val="00B4D8"/>
            </a:solidFill>
          </a:ln>
        </p:spPr>
        <p:txBody>
          <a:bodyPr lIns="180000" tIns="100000" rIns="180000" bIns="100000" anchor="ctr"/>
          <a:lstStyle/>
          <a:p>
            <a:r>
              <a:rPr lang="en-US" sz="1300" b="1" dirty="0">
                <a:solidFill>
                  <a:srgbClr val="0D1B2A"/>
                </a:solidFill>
                <a:latin typeface="Calibri"/>
              </a:rPr>
              <a:t>Application Under Test: </a:t>
            </a:r>
            <a:r>
              <a:rPr lang="en-US" sz="1300" b="0" dirty="0">
                <a:solidFill>
                  <a:srgbClr val="00B4D8"/>
                </a:solidFill>
                <a:latin typeface="Calibri"/>
              </a:rPr>
              <a:t>phptravels.net/flights</a:t>
            </a:r>
          </a:p>
          <a:p>
            <a:r>
              <a:rPr lang="en-US" sz="1100" b="0" dirty="0">
                <a:solidFill>
                  <a:srgbClr val="1A1A2E"/>
                </a:solidFill>
                <a:latin typeface="Calibri"/>
              </a:rPr>
              <a:t>Live travel booking site — search, book, pay, invoice</a:t>
            </a:r>
          </a:p>
        </p:txBody>
      </p:sp>
      <p:sp>
        <p:nvSpPr>
          <p:cNvPr id="28" name="T9"/>
          <p:cNvSpPr>
            <a:spLocks noGrp="1"/>
          </p:cNvSpPr>
          <p:nvPr/>
        </p:nvSpPr>
        <p:spPr>
          <a:xfrm>
            <a:off x="4700000" y="3530000"/>
            <a:ext cx="4100000" cy="1000000"/>
          </a:xfrm>
          <a:prstGeom prst="roundRect">
            <a:avLst>
              <a:gd name="adj" fmla="val 16667"/>
            </a:avLst>
          </a:prstGeom>
          <a:solidFill>
            <a:srgbClr val="EAF4FB"/>
          </a:solidFill>
          <a:ln w="25400">
            <a:solidFill>
              <a:srgbClr val="00B4D8"/>
            </a:solidFill>
          </a:ln>
        </p:spPr>
        <p:txBody>
          <a:bodyPr lIns="180000" tIns="100000" rIns="180000" bIns="100000" anchor="ctr"/>
          <a:lstStyle/>
          <a:p>
            <a:r>
              <a:rPr lang="en-US" sz="1300" b="1" dirty="0">
                <a:solidFill>
                  <a:srgbClr val="0D1B2A"/>
                </a:solidFill>
                <a:latin typeface="Calibri"/>
              </a:rPr>
              <a:t>IDE &amp; OS: </a:t>
            </a:r>
            <a:r>
              <a:rPr lang="en-US" sz="1300" b="0" dirty="0">
                <a:solidFill>
                  <a:srgbClr val="0D1B2A"/>
                </a:solidFill>
                <a:latin typeface="Calibri"/>
              </a:rPr>
              <a:t>PyCharm | Windows 11 | Chrome 145</a:t>
            </a:r>
          </a:p>
          <a:p>
            <a:r>
              <a:rPr lang="en-US" sz="1100" b="0" dirty="0">
                <a:solidFill>
                  <a:srgbClr val="1A1A2E"/>
                </a:solidFill>
                <a:latin typeface="Calibri"/>
              </a:rPr>
              <a:t>Python 3.13.12 — All 12 tests pass in ~18 minutes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Bg"/>
          <p:cNvSpPr>
            <a:spLocks noGrp="1"/>
          </p:cNvSpPr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150000"/>
            <a:ext cx="8458800" cy="560000"/>
          </a:xfrm>
        </p:spPr>
        <p:txBody>
          <a:bodyPr anchor="ctr"/>
          <a:lstStyle/>
          <a:p>
            <a:pPr algn="ctr"/>
            <a:r>
              <a:rPr lang="en-US" sz="3000" b="1" dirty="0">
                <a:solidFill>
                  <a:srgbClr val="FFFFFF"/>
                </a:solidFill>
                <a:latin typeface="Calibri"/>
              </a:rPr>
              <a:t>Automation Framework Architecture</a:t>
            </a:r>
          </a:p>
        </p:txBody>
      </p:sp>
      <p:sp>
        <p:nvSpPr>
          <p:cNvPr id="100" name="L1"/>
          <p:cNvSpPr>
            <a:spLocks noGrp="1"/>
          </p:cNvSpPr>
          <p:nvPr/>
        </p:nvSpPr>
        <p:spPr>
          <a:xfrm>
            <a:off x="342900" y="850000"/>
            <a:ext cx="8458800" cy="280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txBody>
          <a:bodyPr anchor="ctr"/>
          <a:lstStyle/>
          <a:p>
            <a:pPr algn="ctr"/>
            <a:r>
              <a:rPr lang="en-US" sz="1200" b="1" dirty="0">
                <a:solidFill>
                  <a:srgbClr val="FFFFFF"/>
                </a:solidFill>
                <a:latin typeface="Calibri"/>
              </a:rPr>
              <a:t>TEST LAYER  —  tests/test_end_to_end_booking.py</a:t>
            </a:r>
          </a:p>
        </p:txBody>
      </p:sp>
      <p:sp>
        <p:nvSpPr>
          <p:cNvPr id="101" name="TC1"/>
          <p:cNvSpPr>
            <a:spLocks noGrp="1"/>
          </p:cNvSpPr>
          <p:nvPr/>
        </p:nvSpPr>
        <p:spPr>
          <a:xfrm>
            <a:off x="342900" y="1170000"/>
            <a:ext cx="1300000" cy="420000"/>
          </a:xfrm>
          <a:prstGeom prst="roundRect">
            <a:avLst>
              <a:gd name="adj" fmla="val 16667"/>
            </a:avLst>
          </a:prstGeom>
          <a:solidFill>
            <a:srgbClr val="1A3A5C"/>
          </a:solidFill>
          <a:ln w="18000">
            <a:solidFill>
              <a:srgbClr val="00B4D8"/>
            </a:solidFill>
          </a:ln>
        </p:spPr>
        <p:txBody>
          <a:bodyPr anchor="ctr"/>
          <a:lstStyle/>
          <a:p>
            <a:pPr algn="ctr"/>
            <a:r>
              <a:rPr lang="en-US" sz="900" b="1" dirty="0">
                <a:solidFill>
                  <a:srgbClr val="FFFFFF"/>
                </a:solidFill>
                <a:latin typeface="Calibri"/>
              </a:rPr>
              <a:t>TC-01~05 Smoke</a:t>
            </a:r>
          </a:p>
        </p:txBody>
      </p:sp>
      <p:sp>
        <p:nvSpPr>
          <p:cNvPr id="102" name="TC2"/>
          <p:cNvSpPr>
            <a:spLocks noGrp="1"/>
          </p:cNvSpPr>
          <p:nvPr/>
        </p:nvSpPr>
        <p:spPr>
          <a:xfrm>
            <a:off x="1800000" y="1170000"/>
            <a:ext cx="1300000" cy="420000"/>
          </a:xfrm>
          <a:prstGeom prst="roundRect">
            <a:avLst>
              <a:gd name="adj" fmla="val 16667"/>
            </a:avLst>
          </a:prstGeom>
          <a:solidFill>
            <a:srgbClr val="1A3A5C"/>
          </a:solidFill>
          <a:ln w="18000">
            <a:solidFill>
              <a:srgbClr val="00B4D8"/>
            </a:solidFill>
          </a:ln>
        </p:spPr>
        <p:txBody>
          <a:bodyPr anchor="ctr"/>
          <a:lstStyle/>
          <a:p>
            <a:pPr algn="ctr"/>
            <a:r>
              <a:rPr lang="en-US" sz="900" b="1" dirty="0">
                <a:solidFill>
                  <a:srgbClr val="FFFFFF"/>
                </a:solidFill>
                <a:latin typeface="Calibri"/>
              </a:rPr>
              <a:t>TC-06~08 OneWay</a:t>
            </a:r>
          </a:p>
        </p:txBody>
      </p:sp>
      <p:sp>
        <p:nvSpPr>
          <p:cNvPr id="103" name="TC3"/>
          <p:cNvSpPr>
            <a:spLocks noGrp="1"/>
          </p:cNvSpPr>
          <p:nvPr/>
        </p:nvSpPr>
        <p:spPr>
          <a:xfrm>
            <a:off x="3250000" y="1170000"/>
            <a:ext cx="1300000" cy="420000"/>
          </a:xfrm>
          <a:prstGeom prst="roundRect">
            <a:avLst>
              <a:gd name="adj" fmla="val 16667"/>
            </a:avLst>
          </a:prstGeom>
          <a:solidFill>
            <a:srgbClr val="1A3A5C"/>
          </a:solidFill>
          <a:ln w="18000">
            <a:solidFill>
              <a:srgbClr val="00B4D8"/>
            </a:solidFill>
          </a:ln>
        </p:spPr>
        <p:txBody>
          <a:bodyPr anchor="ctr"/>
          <a:lstStyle/>
          <a:p>
            <a:pPr algn="ctr"/>
            <a:r>
              <a:rPr lang="en-US" sz="900" b="1" dirty="0">
                <a:solidFill>
                  <a:srgbClr val="FFFFFF"/>
                </a:solidFill>
                <a:latin typeface="Calibri"/>
              </a:rPr>
              <a:t>TC-09~10 RoundTrip</a:t>
            </a:r>
          </a:p>
        </p:txBody>
      </p:sp>
      <p:sp>
        <p:nvSpPr>
          <p:cNvPr id="104" name="TC4"/>
          <p:cNvSpPr>
            <a:spLocks noGrp="1"/>
          </p:cNvSpPr>
          <p:nvPr/>
        </p:nvSpPr>
        <p:spPr>
          <a:xfrm>
            <a:off x="4700000" y="1170000"/>
            <a:ext cx="1400000" cy="420000"/>
          </a:xfrm>
          <a:prstGeom prst="roundRect">
            <a:avLst>
              <a:gd name="adj" fmla="val 16667"/>
            </a:avLst>
          </a:prstGeom>
          <a:solidFill>
            <a:srgbClr val="1A3A5C"/>
          </a:solidFill>
          <a:ln w="18000">
            <a:solidFill>
              <a:srgbClr val="00B4D8"/>
            </a:solidFill>
          </a:ln>
        </p:spPr>
        <p:txBody>
          <a:bodyPr anchor="ctr"/>
          <a:lstStyle/>
          <a:p>
            <a:pPr algn="ctr"/>
            <a:r>
              <a:rPr lang="en-US" sz="900" b="1" dirty="0">
                <a:solidFill>
                  <a:srgbClr val="FFFFFF"/>
                </a:solidFill>
                <a:latin typeface="Calibri"/>
              </a:rPr>
              <a:t>TC-11 E2E OneWay</a:t>
            </a:r>
          </a:p>
        </p:txBody>
      </p:sp>
      <p:sp>
        <p:nvSpPr>
          <p:cNvPr id="105" name="TC5"/>
          <p:cNvSpPr>
            <a:spLocks noGrp="1"/>
          </p:cNvSpPr>
          <p:nvPr/>
        </p:nvSpPr>
        <p:spPr>
          <a:xfrm>
            <a:off x="6260000" y="1170000"/>
            <a:ext cx="1550000" cy="420000"/>
          </a:xfrm>
          <a:prstGeom prst="roundRect">
            <a:avLst>
              <a:gd name="adj" fmla="val 16667"/>
            </a:avLst>
          </a:prstGeom>
          <a:solidFill>
            <a:srgbClr val="1A3A5C"/>
          </a:solidFill>
          <a:ln w="18000">
            <a:solidFill>
              <a:srgbClr val="00B4D8"/>
            </a:solidFill>
          </a:ln>
        </p:spPr>
        <p:txBody>
          <a:bodyPr anchor="ctr"/>
          <a:lstStyle/>
          <a:p>
            <a:pPr algn="ctr"/>
            <a:r>
              <a:rPr lang="en-US" sz="900" b="1" dirty="0">
                <a:solidFill>
                  <a:srgbClr val="FFFFFF"/>
                </a:solidFill>
                <a:latin typeface="Calibri"/>
              </a:rPr>
              <a:t>TC-12 E2E RoundTrip</a:t>
            </a:r>
          </a:p>
        </p:txBody>
      </p:sp>
      <p:sp>
        <p:nvSpPr>
          <p:cNvPr id="200" name="L2"/>
          <p:cNvSpPr>
            <a:spLocks noGrp="1"/>
          </p:cNvSpPr>
          <p:nvPr/>
        </p:nvSpPr>
        <p:spPr>
          <a:xfrm>
            <a:off x="342900" y="1750000"/>
            <a:ext cx="8458800" cy="28000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txBody>
          <a:bodyPr anchor="ctr"/>
          <a:lstStyle/>
          <a:p>
            <a:pPr algn="ctr"/>
            <a:r>
              <a:rPr lang="en-US" sz="1200" b="1" dirty="0">
                <a:solidFill>
                  <a:srgbClr val="FFFFFF"/>
                </a:solidFill>
                <a:latin typeface="Calibri"/>
              </a:rPr>
              <a:t>PAGE OBJECT LAYER  —  pages/</a:t>
            </a:r>
          </a:p>
        </p:txBody>
      </p:sp>
      <p:sp>
        <p:nvSpPr>
          <p:cNvPr id="201" name="PO1"/>
          <p:cNvSpPr>
            <a:spLocks noGrp="1"/>
          </p:cNvSpPr>
          <p:nvPr/>
        </p:nvSpPr>
        <p:spPr>
          <a:xfrm>
            <a:off x="342900" y="2080000"/>
            <a:ext cx="1900000" cy="520000"/>
          </a:xfrm>
          <a:prstGeom prst="roundRect">
            <a:avLst>
              <a:gd name="adj" fmla="val 16667"/>
            </a:avLst>
          </a:prstGeom>
          <a:solidFill>
            <a:srgbClr val="023047"/>
          </a:solidFill>
          <a:ln w="18000">
            <a:solidFill>
              <a:srgbClr val="028090"/>
            </a:solidFill>
          </a:ln>
        </p:spPr>
        <p:txBody>
          <a:bodyPr anchor="ctr"/>
          <a:lstStyle/>
          <a:p>
            <a:pPr algn="ctr"/>
            <a:r>
              <a:rPr lang="en-US" sz="1000" b="1" dirty="0">
                <a:solidFill>
                  <a:srgbClr val="02C39A"/>
                </a:solidFill>
                <a:latin typeface="Calibri"/>
              </a:rPr>
              <a:t>BasePage</a:t>
            </a:r>
          </a:p>
          <a:p>
            <a:pPr algn="ctr"/>
            <a:r>
              <a:rPr lang="en-US" sz="900" b="0" dirty="0">
                <a:solidFill>
                  <a:srgbClr val="CADCFC"/>
                </a:solidFill>
                <a:latin typeface="Calibri"/>
              </a:rPr>
              <a:t>driver, screenshot</a:t>
            </a:r>
          </a:p>
        </p:txBody>
      </p:sp>
      <p:sp>
        <p:nvSpPr>
          <p:cNvPr id="202" name="PO2"/>
          <p:cNvSpPr>
            <a:spLocks noGrp="1"/>
          </p:cNvSpPr>
          <p:nvPr/>
        </p:nvSpPr>
        <p:spPr>
          <a:xfrm>
            <a:off x="2400000" y="2080000"/>
            <a:ext cx="2000000" cy="520000"/>
          </a:xfrm>
          <a:prstGeom prst="roundRect">
            <a:avLst>
              <a:gd name="adj" fmla="val 16667"/>
            </a:avLst>
          </a:prstGeom>
          <a:solidFill>
            <a:srgbClr val="023047"/>
          </a:solidFill>
          <a:ln w="18000">
            <a:solidFill>
              <a:srgbClr val="028090"/>
            </a:solidFill>
          </a:ln>
        </p:spPr>
        <p:txBody>
          <a:bodyPr anchor="ctr"/>
          <a:lstStyle/>
          <a:p>
            <a:pPr algn="ctr"/>
            <a:r>
              <a:rPr lang="en-US" sz="1000" b="1" dirty="0">
                <a:solidFill>
                  <a:srgbClr val="02C39A"/>
                </a:solidFill>
                <a:latin typeface="Calibri"/>
              </a:rPr>
              <a:t>FlightSearchPage</a:t>
            </a:r>
          </a:p>
          <a:p>
            <a:pPr algn="ctr"/>
            <a:r>
              <a:rPr lang="en-US" sz="900" b="0" dirty="0">
                <a:solidFill>
                  <a:srgbClr val="CADCFC"/>
                </a:solidFill>
                <a:latin typeface="Calibri"/>
              </a:rPr>
              <a:t>search, cities, date</a:t>
            </a:r>
          </a:p>
        </p:txBody>
      </p:sp>
      <p:sp>
        <p:nvSpPr>
          <p:cNvPr id="203" name="PO3"/>
          <p:cNvSpPr>
            <a:spLocks noGrp="1"/>
          </p:cNvSpPr>
          <p:nvPr/>
        </p:nvSpPr>
        <p:spPr>
          <a:xfrm>
            <a:off x="4560000" y="2080000"/>
            <a:ext cx="2000000" cy="520000"/>
          </a:xfrm>
          <a:prstGeom prst="roundRect">
            <a:avLst>
              <a:gd name="adj" fmla="val 16667"/>
            </a:avLst>
          </a:prstGeom>
          <a:solidFill>
            <a:srgbClr val="023047"/>
          </a:solidFill>
          <a:ln w="18000">
            <a:solidFill>
              <a:srgbClr val="028090"/>
            </a:solidFill>
          </a:ln>
        </p:spPr>
        <p:txBody>
          <a:bodyPr anchor="ctr"/>
          <a:lstStyle/>
          <a:p>
            <a:pPr algn="ctr"/>
            <a:r>
              <a:rPr lang="en-US" sz="1000" b="1" dirty="0">
                <a:solidFill>
                  <a:srgbClr val="02C39A"/>
                </a:solidFill>
                <a:latin typeface="Calibri"/>
              </a:rPr>
              <a:t>FlightResultsPage</a:t>
            </a:r>
          </a:p>
          <a:p>
            <a:pPr algn="ctr"/>
            <a:r>
              <a:rPr lang="en-US" sz="900" b="0" dirty="0">
                <a:solidFill>
                  <a:srgbClr val="CADCFC"/>
                </a:solidFill>
                <a:latin typeface="Calibri"/>
              </a:rPr>
              <a:t>results, Book Now</a:t>
            </a:r>
          </a:p>
        </p:txBody>
      </p:sp>
      <p:sp>
        <p:nvSpPr>
          <p:cNvPr id="204" name="PO4"/>
          <p:cNvSpPr>
            <a:spLocks noGrp="1"/>
          </p:cNvSpPr>
          <p:nvPr/>
        </p:nvSpPr>
        <p:spPr>
          <a:xfrm>
            <a:off x="6720000" y="2080000"/>
            <a:ext cx="1900000" cy="520000"/>
          </a:xfrm>
          <a:prstGeom prst="roundRect">
            <a:avLst>
              <a:gd name="adj" fmla="val 16667"/>
            </a:avLst>
          </a:prstGeom>
          <a:solidFill>
            <a:srgbClr val="023047"/>
          </a:solidFill>
          <a:ln w="18000">
            <a:solidFill>
              <a:srgbClr val="028090"/>
            </a:solidFill>
          </a:ln>
        </p:spPr>
        <p:txBody>
          <a:bodyPr anchor="ctr"/>
          <a:lstStyle/>
          <a:p>
            <a:pPr algn="ctr"/>
            <a:r>
              <a:rPr lang="en-US" sz="1000" b="1" dirty="0">
                <a:solidFill>
                  <a:srgbClr val="02C39A"/>
                </a:solidFill>
                <a:latin typeface="Calibri"/>
              </a:rPr>
              <a:t>BookingPage</a:t>
            </a:r>
          </a:p>
          <a:p>
            <a:pPr algn="ctr"/>
            <a:r>
              <a:rPr lang="en-US" sz="900" b="0" dirty="0">
                <a:solidFill>
                  <a:srgbClr val="CADCFC"/>
                </a:solidFill>
                <a:latin typeface="Calibri"/>
              </a:rPr>
              <a:t>guest, passenger, confirm</a:t>
            </a:r>
          </a:p>
        </p:txBody>
      </p:sp>
      <p:sp>
        <p:nvSpPr>
          <p:cNvPr id="205" name="PO5"/>
          <p:cNvSpPr>
            <a:spLocks noGrp="1"/>
          </p:cNvSpPr>
          <p:nvPr/>
        </p:nvSpPr>
        <p:spPr>
          <a:xfrm>
            <a:off x="342900" y="2680000"/>
            <a:ext cx="8458800" cy="420000"/>
          </a:xfrm>
          <a:prstGeom prst="roundRect">
            <a:avLst>
              <a:gd name="adj" fmla="val 16667"/>
            </a:avLst>
          </a:prstGeom>
          <a:solidFill>
            <a:srgbClr val="023047"/>
          </a:solidFill>
          <a:ln w="18000">
            <a:solidFill>
              <a:srgbClr val="028090"/>
            </a:solidFill>
          </a:ln>
        </p:spPr>
        <p:txBody>
          <a:bodyPr anchor="ctr"/>
          <a:lstStyle/>
          <a:p>
            <a:pPr algn="ctr"/>
            <a:r>
              <a:rPr lang="en-US" sz="1000" b="1" dirty="0">
                <a:solidFill>
                  <a:srgbClr val="02C39A"/>
                </a:solidFill>
                <a:latin typeface="Calibri"/>
              </a:rPr>
              <a:t>PaymentPage  —  invoice, Stripe fill, Download Invoice, Back to Homepage</a:t>
            </a:r>
          </a:p>
        </p:txBody>
      </p:sp>
      <p:sp>
        <p:nvSpPr>
          <p:cNvPr id="300" name="L3"/>
          <p:cNvSpPr>
            <a:spLocks noGrp="1"/>
          </p:cNvSpPr>
          <p:nvPr/>
        </p:nvSpPr>
        <p:spPr>
          <a:xfrm>
            <a:off x="342900" y="3230000"/>
            <a:ext cx="8458800" cy="240000"/>
          </a:xfrm>
          <a:prstGeom prst="rect">
            <a:avLst/>
          </a:prstGeom>
          <a:solidFill>
            <a:srgbClr val="4A4E69"/>
          </a:solidFill>
          <a:ln>
            <a:noFill/>
          </a:ln>
        </p:spPr>
        <p:txBody>
          <a:bodyPr anchor="ctr"/>
          <a:lstStyle/>
          <a:p>
            <a:pPr algn="ctr"/>
            <a:r>
              <a:rPr lang="en-US" sz="1000" b="1" dirty="0">
                <a:solidFill>
                  <a:srgbClr val="FFFFFF"/>
                </a:solidFill>
                <a:latin typeface="Calibri"/>
              </a:rPr>
              <a:t>SUPPORT LAYER  —  utils/ | conftest.py | test_data/</a:t>
            </a:r>
          </a:p>
        </p:txBody>
      </p:sp>
      <p:sp>
        <p:nvSpPr>
          <p:cNvPr id="301" name="U1"/>
          <p:cNvSpPr>
            <a:spLocks noGrp="1"/>
          </p:cNvSpPr>
          <p:nvPr/>
        </p:nvSpPr>
        <p:spPr>
          <a:xfrm>
            <a:off x="342900" y="3530000"/>
            <a:ext cx="2000000" cy="380000"/>
          </a:xfrm>
          <a:prstGeom prst="roundRect">
            <a:avLst>
              <a:gd name="adj" fmla="val 16667"/>
            </a:avLst>
          </a:prstGeom>
          <a:solidFill>
            <a:srgbClr val="2D2D44"/>
          </a:solidFill>
          <a:ln w="18000">
            <a:solidFill>
              <a:srgbClr val="4A4E69"/>
            </a:solidFill>
          </a:ln>
        </p:spPr>
        <p:txBody>
          <a:bodyPr anchor="ctr"/>
          <a:lstStyle/>
          <a:p>
            <a:pPr algn="ctr"/>
            <a:r>
              <a:rPr lang="en-US" sz="1000" b="1" dirty="0">
                <a:solidFill>
                  <a:srgbClr val="CADCFC"/>
                </a:solidFill>
                <a:latin typeface="Calibri"/>
              </a:rPr>
              <a:t>excel_utils.py</a:t>
            </a:r>
          </a:p>
        </p:txBody>
      </p:sp>
      <p:sp>
        <p:nvSpPr>
          <p:cNvPr id="302" name="U2"/>
          <p:cNvSpPr>
            <a:spLocks noGrp="1"/>
          </p:cNvSpPr>
          <p:nvPr/>
        </p:nvSpPr>
        <p:spPr>
          <a:xfrm>
            <a:off x="2500000" y="3530000"/>
            <a:ext cx="1700000" cy="380000"/>
          </a:xfrm>
          <a:prstGeom prst="roundRect">
            <a:avLst>
              <a:gd name="adj" fmla="val 16667"/>
            </a:avLst>
          </a:prstGeom>
          <a:solidFill>
            <a:srgbClr val="2D2D44"/>
          </a:solidFill>
          <a:ln w="18000">
            <a:solidFill>
              <a:srgbClr val="4A4E69"/>
            </a:solidFill>
          </a:ln>
        </p:spPr>
        <p:txBody>
          <a:bodyPr anchor="ctr"/>
          <a:lstStyle/>
          <a:p>
            <a:pPr algn="ctr"/>
            <a:r>
              <a:rPr lang="en-US" sz="1000" b="1" dirty="0">
                <a:solidFill>
                  <a:srgbClr val="CADCFC"/>
                </a:solidFill>
                <a:latin typeface="Calibri"/>
              </a:rPr>
              <a:t>logger.py</a:t>
            </a:r>
          </a:p>
        </p:txBody>
      </p:sp>
      <p:sp>
        <p:nvSpPr>
          <p:cNvPr id="303" name="U3"/>
          <p:cNvSpPr>
            <a:spLocks noGrp="1"/>
          </p:cNvSpPr>
          <p:nvPr/>
        </p:nvSpPr>
        <p:spPr>
          <a:xfrm>
            <a:off x="4360000" y="3530000"/>
            <a:ext cx="1700000" cy="380000"/>
          </a:xfrm>
          <a:prstGeom prst="roundRect">
            <a:avLst>
              <a:gd name="adj" fmla="val 16667"/>
            </a:avLst>
          </a:prstGeom>
          <a:solidFill>
            <a:srgbClr val="2D2D44"/>
          </a:solidFill>
          <a:ln w="18000">
            <a:solidFill>
              <a:srgbClr val="4A4E69"/>
            </a:solidFill>
          </a:ln>
        </p:spPr>
        <p:txBody>
          <a:bodyPr anchor="ctr"/>
          <a:lstStyle/>
          <a:p>
            <a:pPr algn="ctr"/>
            <a:r>
              <a:rPr lang="en-US" sz="1000" b="1" dirty="0">
                <a:solidFill>
                  <a:srgbClr val="CADCFC"/>
                </a:solidFill>
                <a:latin typeface="Calibri"/>
              </a:rPr>
              <a:t>conftest.py</a:t>
            </a:r>
          </a:p>
        </p:txBody>
      </p:sp>
      <p:sp>
        <p:nvSpPr>
          <p:cNvPr id="304" name="U4"/>
          <p:cNvSpPr>
            <a:spLocks noGrp="1"/>
          </p:cNvSpPr>
          <p:nvPr/>
        </p:nvSpPr>
        <p:spPr>
          <a:xfrm>
            <a:off x="6220000" y="3530000"/>
            <a:ext cx="2200000" cy="380000"/>
          </a:xfrm>
          <a:prstGeom prst="roundRect">
            <a:avLst>
              <a:gd name="adj" fmla="val 16667"/>
            </a:avLst>
          </a:prstGeom>
          <a:solidFill>
            <a:srgbClr val="2D2D44"/>
          </a:solidFill>
          <a:ln w="18000">
            <a:solidFill>
              <a:srgbClr val="4A4E69"/>
            </a:solidFill>
          </a:ln>
        </p:spPr>
        <p:txBody>
          <a:bodyPr anchor="ctr"/>
          <a:lstStyle/>
          <a:p>
            <a:pPr algn="ctr"/>
            <a:r>
              <a:rPr lang="en-US" sz="1000" b="1" dirty="0">
                <a:solidFill>
                  <a:srgbClr val="CADCFC"/>
                </a:solidFill>
                <a:latin typeface="Calibri"/>
              </a:rPr>
              <a:t>test_data.xlsx</a:t>
            </a:r>
          </a:p>
        </p:txBody>
      </p:sp>
      <p:sp>
        <p:nvSpPr>
          <p:cNvPr id="400" name="L4"/>
          <p:cNvSpPr>
            <a:spLocks noGrp="1"/>
          </p:cNvSpPr>
          <p:nvPr/>
        </p:nvSpPr>
        <p:spPr>
          <a:xfrm>
            <a:off x="342900" y="4080000"/>
            <a:ext cx="8458800" cy="780000"/>
          </a:xfrm>
          <a:prstGeom prst="roundRect">
            <a:avLst>
              <a:gd name="adj" fmla="val 16667"/>
            </a:avLst>
          </a:prstGeom>
          <a:solidFill>
            <a:srgbClr val="1A3A5C"/>
          </a:solidFill>
          <a:ln w="25400">
            <a:solidFill>
              <a:srgbClr val="F4A261"/>
            </a:solidFill>
          </a:ln>
        </p:spPr>
        <p:txBody>
          <a:bodyPr anchor="ctr"/>
          <a:lstStyle/>
          <a:p>
            <a:pPr algn="ctr"/>
            <a:r>
              <a:rPr lang="en-US" sz="1300" b="1" dirty="0">
                <a:solidFill>
                  <a:srgbClr val="F4A261"/>
                </a:solidFill>
                <a:latin typeface="Calibri"/>
              </a:rPr>
              <a:t>APPLICATION UNDER TEST</a:t>
            </a:r>
          </a:p>
          <a:p>
            <a:pPr algn="ctr"/>
            <a:r>
              <a:rPr lang="en-US" sz="1100" b="0" dirty="0">
                <a:solidFill>
                  <a:srgbClr val="FFFFFF"/>
                </a:solidFill>
                <a:latin typeface="Calibri"/>
              </a:rPr>
              <a:t>Chrome 145  |  phptravels.net/flights  |  Stripe Checkout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Bg"/>
          <p:cNvSpPr>
            <a:spLocks noGrp="1"/>
          </p:cNvSpPr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1" name="HdrBar"/>
          <p:cNvSpPr>
            <a:spLocks noGrp="1"/>
          </p:cNvSpPr>
          <p:nvPr/>
        </p:nvSpPr>
        <p:spPr>
          <a:xfrm>
            <a:off x="0" y="0"/>
            <a:ext cx="9144000" cy="720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100000"/>
            <a:ext cx="8458800" cy="520000"/>
          </a:xfrm>
        </p:spPr>
        <p:txBody>
          <a:bodyPr anchor="ctr"/>
          <a:lstStyle/>
          <a:p>
            <a:pPr algn="ctr"/>
            <a:r>
              <a:rPr lang="en-US" sz="3000" b="1" dirty="0">
                <a:solidFill>
                  <a:srgbClr val="FFFFFF"/>
                </a:solidFill>
                <a:latin typeface="Calibri"/>
              </a:rPr>
              <a:t>Project Workflow</a:t>
            </a:r>
          </a:p>
        </p:txBody>
      </p:sp>
      <p:sp>
        <p:nvSpPr>
          <p:cNvPr id="20" name="S1"/>
          <p:cNvSpPr>
            <a:spLocks noGrp="1"/>
          </p:cNvSpPr>
          <p:nvPr/>
        </p:nvSpPr>
        <p:spPr>
          <a:xfrm>
            <a:off x="200000" y="880000"/>
            <a:ext cx="1400000" cy="700000"/>
          </a:xfrm>
          <a:prstGeom prst="roundRect">
            <a:avLst>
              <a:gd name="adj" fmla="val 25000"/>
            </a:avLst>
          </a:prstGeom>
          <a:solidFill>
            <a:srgbClr val="0D1B2A"/>
          </a:solidFill>
          <a:ln w="25400">
            <a:solidFill>
              <a:srgbClr val="00B4D8"/>
            </a:solidFill>
          </a:ln>
        </p:spPr>
        <p:txBody>
          <a:bodyPr anchor="ctr"/>
          <a:lstStyle/>
          <a:p>
            <a:pPr algn="ctr"/>
            <a:r>
              <a:rPr lang="en-US" sz="1400" b="1" dirty="0">
                <a:solidFill>
                  <a:srgbClr val="00B4D8"/>
                </a:solidFill>
                <a:latin typeface="Calibri"/>
              </a:rPr>
              <a:t>STEP 1</a:t>
            </a:r>
          </a:p>
          <a:p>
            <a:pPr algn="ctr"/>
            <a:r>
              <a:rPr lang="en-US" sz="1100" b="0" dirty="0">
                <a:solidFill>
                  <a:srgbClr val="FFFFFF"/>
                </a:solidFill>
                <a:latin typeface="Calibri"/>
              </a:rPr>
              <a:t>Read Excel Test Data</a:t>
            </a:r>
          </a:p>
        </p:txBody>
      </p:sp>
      <p:sp>
        <p:nvSpPr>
          <p:cNvPr id="30" name="A1"/>
          <p:cNvSpPr>
            <a:spLocks noGrp="1"/>
          </p:cNvSpPr>
          <p:nvPr/>
        </p:nvSpPr>
        <p:spPr>
          <a:xfrm>
            <a:off x="1650000" y="1130000"/>
            <a:ext cx="580000" cy="2000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00B4D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1" name="S2"/>
          <p:cNvSpPr>
            <a:spLocks noGrp="1"/>
          </p:cNvSpPr>
          <p:nvPr/>
        </p:nvSpPr>
        <p:spPr>
          <a:xfrm>
            <a:off x="2280000" y="880000"/>
            <a:ext cx="1400000" cy="700000"/>
          </a:xfrm>
          <a:prstGeom prst="roundRect">
            <a:avLst>
              <a:gd name="adj" fmla="val 25000"/>
            </a:avLst>
          </a:prstGeom>
          <a:solidFill>
            <a:srgbClr val="0D1B2A"/>
          </a:solidFill>
          <a:ln w="25400">
            <a:solidFill>
              <a:srgbClr val="00B4D8"/>
            </a:solidFill>
          </a:ln>
        </p:spPr>
        <p:txBody>
          <a:bodyPr anchor="ctr"/>
          <a:lstStyle/>
          <a:p>
            <a:pPr algn="ctr"/>
            <a:r>
              <a:rPr lang="en-US" sz="1400" b="1" dirty="0">
                <a:solidFill>
                  <a:srgbClr val="00B4D8"/>
                </a:solidFill>
                <a:latin typeface="Calibri"/>
              </a:rPr>
              <a:t>STEP 2</a:t>
            </a:r>
          </a:p>
          <a:p>
            <a:pPr algn="ctr"/>
            <a:r>
              <a:rPr lang="en-US" sz="1100" b="0" dirty="0">
                <a:solidFill>
                  <a:srgbClr val="FFFFFF"/>
                </a:solidFill>
                <a:latin typeface="Calibri"/>
              </a:rPr>
              <a:t>Launch Chrome + Load phptravels.net</a:t>
            </a:r>
          </a:p>
        </p:txBody>
      </p:sp>
      <p:sp>
        <p:nvSpPr>
          <p:cNvPr id="31" name="A2"/>
          <p:cNvSpPr>
            <a:spLocks noGrp="1"/>
          </p:cNvSpPr>
          <p:nvPr/>
        </p:nvSpPr>
        <p:spPr>
          <a:xfrm>
            <a:off x="3730000" y="1130000"/>
            <a:ext cx="580000" cy="2000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00B4D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2" name="S3"/>
          <p:cNvSpPr>
            <a:spLocks noGrp="1"/>
          </p:cNvSpPr>
          <p:nvPr/>
        </p:nvSpPr>
        <p:spPr>
          <a:xfrm>
            <a:off x="4360000" y="880000"/>
            <a:ext cx="1400000" cy="700000"/>
          </a:xfrm>
          <a:prstGeom prst="roundRect">
            <a:avLst>
              <a:gd name="adj" fmla="val 25000"/>
            </a:avLst>
          </a:prstGeom>
          <a:solidFill>
            <a:srgbClr val="0D1B2A"/>
          </a:solidFill>
          <a:ln w="25400">
            <a:solidFill>
              <a:srgbClr val="00B4D8"/>
            </a:solidFill>
          </a:ln>
        </p:spPr>
        <p:txBody>
          <a:bodyPr anchor="ctr"/>
          <a:lstStyle/>
          <a:p>
            <a:pPr algn="ctr"/>
            <a:r>
              <a:rPr lang="en-US" sz="1400" b="1" dirty="0">
                <a:solidFill>
                  <a:srgbClr val="00B4D8"/>
                </a:solidFill>
                <a:latin typeface="Calibri"/>
              </a:rPr>
              <a:t>STEP 3</a:t>
            </a:r>
          </a:p>
          <a:p>
            <a:pPr algn="ctr"/>
            <a:r>
              <a:rPr lang="en-US" sz="1100" b="0" dirty="0">
                <a:solidFill>
                  <a:srgbClr val="FFFFFF"/>
                </a:solidFill>
                <a:latin typeface="Calibri"/>
              </a:rPr>
              <a:t>Search Flight BOM to DEL</a:t>
            </a:r>
          </a:p>
        </p:txBody>
      </p:sp>
      <p:sp>
        <p:nvSpPr>
          <p:cNvPr id="32" name="A3"/>
          <p:cNvSpPr>
            <a:spLocks noGrp="1"/>
          </p:cNvSpPr>
          <p:nvPr/>
        </p:nvSpPr>
        <p:spPr>
          <a:xfrm>
            <a:off x="5810000" y="1130000"/>
            <a:ext cx="580000" cy="2000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00B4D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3" name="S4"/>
          <p:cNvSpPr>
            <a:spLocks noGrp="1"/>
          </p:cNvSpPr>
          <p:nvPr/>
        </p:nvSpPr>
        <p:spPr>
          <a:xfrm>
            <a:off x="6440000" y="880000"/>
            <a:ext cx="1400000" cy="700000"/>
          </a:xfrm>
          <a:prstGeom prst="roundRect">
            <a:avLst>
              <a:gd name="adj" fmla="val 25000"/>
            </a:avLst>
          </a:prstGeom>
          <a:solidFill>
            <a:srgbClr val="0D1B2A"/>
          </a:solidFill>
          <a:ln w="25400">
            <a:solidFill>
              <a:srgbClr val="00B4D8"/>
            </a:solidFill>
          </a:ln>
        </p:spPr>
        <p:txBody>
          <a:bodyPr anchor="ctr"/>
          <a:lstStyle/>
          <a:p>
            <a:pPr algn="ctr"/>
            <a:r>
              <a:rPr lang="en-US" sz="1400" b="1" dirty="0">
                <a:solidFill>
                  <a:srgbClr val="00B4D8"/>
                </a:solidFill>
                <a:latin typeface="Calibri"/>
              </a:rPr>
              <a:t>STEP 4</a:t>
            </a:r>
          </a:p>
          <a:p>
            <a:pPr algn="ctr"/>
            <a:r>
              <a:rPr lang="en-US" sz="1100" b="0" dirty="0">
                <a:solidFill>
                  <a:srgbClr val="FFFFFF"/>
                </a:solidFill>
                <a:latin typeface="Calibri"/>
              </a:rPr>
              <a:t>Select Flight + Book Now</a:t>
            </a:r>
          </a:p>
        </p:txBody>
      </p:sp>
      <p:sp>
        <p:nvSpPr>
          <p:cNvPr id="40" name="DA"/>
          <p:cNvSpPr>
            <a:spLocks noGrp="1"/>
          </p:cNvSpPr>
          <p:nvPr/>
        </p:nvSpPr>
        <p:spPr>
          <a:xfrm>
            <a:off x="7040000" y="1630000"/>
            <a:ext cx="200000" cy="50000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F4A261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4" name="S5"/>
          <p:cNvSpPr>
            <a:spLocks noGrp="1"/>
          </p:cNvSpPr>
          <p:nvPr/>
        </p:nvSpPr>
        <p:spPr>
          <a:xfrm>
            <a:off x="6440000" y="2180000"/>
            <a:ext cx="1400000" cy="700000"/>
          </a:xfrm>
          <a:prstGeom prst="roundRect">
            <a:avLst>
              <a:gd name="adj" fmla="val 25000"/>
            </a:avLst>
          </a:prstGeom>
          <a:solidFill>
            <a:srgbClr val="1A3A5C"/>
          </a:solidFill>
          <a:ln w="25400">
            <a:solidFill>
              <a:srgbClr val="F4A261"/>
            </a:solidFill>
          </a:ln>
        </p:spPr>
        <p:txBody>
          <a:bodyPr anchor="ctr"/>
          <a:lstStyle/>
          <a:p>
            <a:pPr algn="ctr"/>
            <a:r>
              <a:rPr lang="en-US" sz="1400" b="1" dirty="0">
                <a:solidFill>
                  <a:srgbClr val="F4A261"/>
                </a:solidFill>
                <a:latin typeface="Calibri"/>
              </a:rPr>
              <a:t>STEP 5</a:t>
            </a:r>
          </a:p>
          <a:p>
            <a:pPr algn="ctr"/>
            <a:r>
              <a:rPr lang="en-US" sz="1100" b="0" dirty="0">
                <a:solidFill>
                  <a:srgbClr val="FFFFFF"/>
                </a:solidFill>
                <a:latin typeface="Calibri"/>
              </a:rPr>
              <a:t>Fill Guest + Passenger Details</a:t>
            </a:r>
          </a:p>
        </p:txBody>
      </p:sp>
      <p:sp>
        <p:nvSpPr>
          <p:cNvPr id="33" name="A4"/>
          <p:cNvSpPr>
            <a:spLocks noGrp="1"/>
          </p:cNvSpPr>
          <p:nvPr/>
        </p:nvSpPr>
        <p:spPr>
          <a:xfrm>
            <a:off x="4890000" y="2430000"/>
            <a:ext cx="580000" cy="200000"/>
          </a:xfrm>
          <a:prstGeom prst="leftArrow">
            <a:avLst>
              <a:gd name="adj1" fmla="val 50000"/>
              <a:gd name="adj2" fmla="val 50000"/>
            </a:avLst>
          </a:prstGeom>
          <a:solidFill>
            <a:srgbClr val="F4A261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5" name="S6"/>
          <p:cNvSpPr>
            <a:spLocks noGrp="1"/>
          </p:cNvSpPr>
          <p:nvPr/>
        </p:nvSpPr>
        <p:spPr>
          <a:xfrm>
            <a:off x="3360000" y="2180000"/>
            <a:ext cx="1500000" cy="700000"/>
          </a:xfrm>
          <a:prstGeom prst="roundRect">
            <a:avLst>
              <a:gd name="adj" fmla="val 25000"/>
            </a:avLst>
          </a:prstGeom>
          <a:solidFill>
            <a:srgbClr val="1A3A5C"/>
          </a:solidFill>
          <a:ln w="25400">
            <a:solidFill>
              <a:srgbClr val="F4A261"/>
            </a:solidFill>
          </a:ln>
        </p:spPr>
        <p:txBody>
          <a:bodyPr anchor="ctr"/>
          <a:lstStyle/>
          <a:p>
            <a:pPr algn="ctr"/>
            <a:r>
              <a:rPr lang="en-US" sz="1400" b="1" dirty="0">
                <a:solidFill>
                  <a:srgbClr val="F4A261"/>
                </a:solidFill>
                <a:latin typeface="Calibri"/>
              </a:rPr>
              <a:t>STEP 6</a:t>
            </a:r>
          </a:p>
          <a:p>
            <a:pPr algn="ctr"/>
            <a:r>
              <a:rPr lang="en-US" sz="1100" b="0" dirty="0">
                <a:solidFill>
                  <a:srgbClr val="FFFFFF"/>
                </a:solidFill>
                <a:latin typeface="Calibri"/>
              </a:rPr>
              <a:t>Confirm Booking + Invoice</a:t>
            </a:r>
          </a:p>
        </p:txBody>
      </p:sp>
      <p:sp>
        <p:nvSpPr>
          <p:cNvPr id="34" name="A5"/>
          <p:cNvSpPr>
            <a:spLocks noGrp="1"/>
          </p:cNvSpPr>
          <p:nvPr/>
        </p:nvSpPr>
        <p:spPr>
          <a:xfrm>
            <a:off x="1830000" y="2430000"/>
            <a:ext cx="580000" cy="200000"/>
          </a:xfrm>
          <a:prstGeom prst="leftArrow">
            <a:avLst>
              <a:gd name="adj1" fmla="val 50000"/>
              <a:gd name="adj2" fmla="val 50000"/>
            </a:avLst>
          </a:prstGeom>
          <a:solidFill>
            <a:srgbClr val="F4A261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6" name="S7"/>
          <p:cNvSpPr>
            <a:spLocks noGrp="1"/>
          </p:cNvSpPr>
          <p:nvPr/>
        </p:nvSpPr>
        <p:spPr>
          <a:xfrm>
            <a:off x="300000" y="2180000"/>
            <a:ext cx="1500000" cy="700000"/>
          </a:xfrm>
          <a:prstGeom prst="roundRect">
            <a:avLst>
              <a:gd name="adj" fmla="val 25000"/>
            </a:avLst>
          </a:prstGeom>
          <a:solidFill>
            <a:srgbClr val="1A3A5C"/>
          </a:solidFill>
          <a:ln w="25400">
            <a:solidFill>
              <a:srgbClr val="F4A261"/>
            </a:solidFill>
          </a:ln>
        </p:spPr>
        <p:txBody>
          <a:bodyPr anchor="ctr"/>
          <a:lstStyle/>
          <a:p>
            <a:pPr algn="ctr"/>
            <a:r>
              <a:rPr lang="en-US" sz="1400" b="1" dirty="0">
                <a:solidFill>
                  <a:srgbClr val="F4A261"/>
                </a:solidFill>
                <a:latin typeface="Calibri"/>
              </a:rPr>
              <a:t>STEP 7</a:t>
            </a:r>
          </a:p>
          <a:p>
            <a:pPr algn="ctr"/>
            <a:r>
              <a:rPr lang="en-US" sz="1100" b="0" dirty="0">
                <a:solidFill>
                  <a:srgbClr val="FFFFFF"/>
                </a:solidFill>
                <a:latin typeface="Calibri"/>
              </a:rPr>
              <a:t>Stripe Payment + Pay</a:t>
            </a:r>
          </a:p>
        </p:txBody>
      </p:sp>
      <p:sp>
        <p:nvSpPr>
          <p:cNvPr id="41" name="DA2"/>
          <p:cNvSpPr>
            <a:spLocks noGrp="1"/>
          </p:cNvSpPr>
          <p:nvPr/>
        </p:nvSpPr>
        <p:spPr>
          <a:xfrm>
            <a:off x="950000" y="2930000"/>
            <a:ext cx="200000" cy="50000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02C39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7" name="S8"/>
          <p:cNvSpPr>
            <a:spLocks noGrp="1"/>
          </p:cNvSpPr>
          <p:nvPr/>
        </p:nvSpPr>
        <p:spPr>
          <a:xfrm>
            <a:off x="300000" y="3480000"/>
            <a:ext cx="1700000" cy="700000"/>
          </a:xfrm>
          <a:prstGeom prst="roundRect">
            <a:avLst>
              <a:gd name="adj" fmla="val 25000"/>
            </a:avLst>
          </a:prstGeom>
          <a:solidFill>
            <a:srgbClr val="023047"/>
          </a:solidFill>
          <a:ln w="25400">
            <a:solidFill>
              <a:srgbClr val="02C39A"/>
            </a:solidFill>
          </a:ln>
        </p:spPr>
        <p:txBody>
          <a:bodyPr anchor="ctr"/>
          <a:lstStyle/>
          <a:p>
            <a:pPr algn="ctr"/>
            <a:r>
              <a:rPr lang="en-US" sz="1400" b="1" dirty="0">
                <a:solidFill>
                  <a:srgbClr val="02C39A"/>
                </a:solidFill>
                <a:latin typeface="Calibri"/>
              </a:rPr>
              <a:t>STEP 8</a:t>
            </a:r>
          </a:p>
          <a:p>
            <a:pPr algn="ctr"/>
            <a:r>
              <a:rPr lang="en-US" sz="1100" b="0" dirty="0">
                <a:solidFill>
                  <a:srgbClr val="FFFFFF"/>
                </a:solidFill>
                <a:latin typeface="Calibri"/>
              </a:rPr>
              <a:t>Verify: Confirmed + Paid</a:t>
            </a:r>
          </a:p>
        </p:txBody>
      </p:sp>
      <p:sp>
        <p:nvSpPr>
          <p:cNvPr id="35" name="A6"/>
          <p:cNvSpPr>
            <a:spLocks noGrp="1"/>
          </p:cNvSpPr>
          <p:nvPr/>
        </p:nvSpPr>
        <p:spPr>
          <a:xfrm>
            <a:off x="2050000" y="3730000"/>
            <a:ext cx="580000" cy="2000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02C39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8" name="S9"/>
          <p:cNvSpPr>
            <a:spLocks noGrp="1"/>
          </p:cNvSpPr>
          <p:nvPr/>
        </p:nvSpPr>
        <p:spPr>
          <a:xfrm>
            <a:off x="2680000" y="3480000"/>
            <a:ext cx="1700000" cy="700000"/>
          </a:xfrm>
          <a:prstGeom prst="roundRect">
            <a:avLst>
              <a:gd name="adj" fmla="val 25000"/>
            </a:avLst>
          </a:prstGeom>
          <a:solidFill>
            <a:srgbClr val="023047"/>
          </a:solidFill>
          <a:ln w="25400">
            <a:solidFill>
              <a:srgbClr val="02C39A"/>
            </a:solidFill>
          </a:ln>
        </p:spPr>
        <p:txBody>
          <a:bodyPr anchor="ctr"/>
          <a:lstStyle/>
          <a:p>
            <a:pPr algn="ctr"/>
            <a:r>
              <a:rPr lang="en-US" sz="1400" b="1" dirty="0">
                <a:solidFill>
                  <a:srgbClr val="02C39A"/>
                </a:solidFill>
                <a:latin typeface="Calibri"/>
              </a:rPr>
              <a:t>STEP 9</a:t>
            </a:r>
          </a:p>
          <a:p>
            <a:pPr algn="ctr"/>
            <a:r>
              <a:rPr lang="en-US" sz="1100" b="0" dirty="0">
                <a:solidFill>
                  <a:srgbClr val="FFFFFF"/>
                </a:solidFill>
                <a:latin typeface="Calibri"/>
              </a:rPr>
              <a:t>Download Invoice</a:t>
            </a:r>
          </a:p>
        </p:txBody>
      </p:sp>
      <p:sp>
        <p:nvSpPr>
          <p:cNvPr id="36" name="A7"/>
          <p:cNvSpPr>
            <a:spLocks noGrp="1"/>
          </p:cNvSpPr>
          <p:nvPr/>
        </p:nvSpPr>
        <p:spPr>
          <a:xfrm>
            <a:off x="4430000" y="3730000"/>
            <a:ext cx="580000" cy="2000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02C39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9" name="S10"/>
          <p:cNvSpPr>
            <a:spLocks noGrp="1"/>
          </p:cNvSpPr>
          <p:nvPr/>
        </p:nvSpPr>
        <p:spPr>
          <a:xfrm>
            <a:off x="5060000" y="3480000"/>
            <a:ext cx="1900000" cy="700000"/>
          </a:xfrm>
          <a:prstGeom prst="roundRect">
            <a:avLst>
              <a:gd name="adj" fmla="val 25000"/>
            </a:avLst>
          </a:prstGeom>
          <a:solidFill>
            <a:srgbClr val="023047"/>
          </a:solidFill>
          <a:ln w="25400">
            <a:solidFill>
              <a:srgbClr val="02C39A"/>
            </a:solidFill>
          </a:ln>
        </p:spPr>
        <p:txBody>
          <a:bodyPr anchor="ctr"/>
          <a:lstStyle/>
          <a:p>
            <a:pPr algn="ctr"/>
            <a:r>
              <a:rPr lang="en-US" sz="1400" b="1" dirty="0">
                <a:solidFill>
                  <a:srgbClr val="02C39A"/>
                </a:solidFill>
                <a:latin typeface="Calibri"/>
              </a:rPr>
              <a:t>STEP 10</a:t>
            </a:r>
          </a:p>
          <a:p>
            <a:pPr algn="ctr"/>
            <a:r>
              <a:rPr lang="en-US" sz="1100" b="0" dirty="0">
                <a:solidFill>
                  <a:srgbClr val="FFFFFF"/>
                </a:solidFill>
                <a:latin typeface="Calibri"/>
              </a:rPr>
              <a:t>Report + Screenshot Log</a:t>
            </a:r>
          </a:p>
        </p:txBody>
      </p:sp>
      <p:sp>
        <p:nvSpPr>
          <p:cNvPr id="50" name="Pass"/>
          <p:cNvSpPr>
            <a:spLocks noGrp="1"/>
          </p:cNvSpPr>
          <p:nvPr/>
        </p:nvSpPr>
        <p:spPr>
          <a:xfrm>
            <a:off x="7200000" y="3480000"/>
            <a:ext cx="1700000" cy="700000"/>
          </a:xfrm>
          <a:prstGeom prst="roundRect">
            <a:avLst>
              <a:gd name="adj" fmla="val 25000"/>
            </a:avLst>
          </a:prstGeom>
          <a:solidFill>
            <a:srgbClr val="217346"/>
          </a:solidFill>
          <a:ln>
            <a:noFill/>
          </a:ln>
        </p:spPr>
        <p:txBody>
          <a:bodyPr anchor="ctr"/>
          <a:lstStyle/>
          <a:p>
            <a:pPr algn="ctr"/>
            <a:r>
              <a:rPr lang="en-US" sz="1800" b="1" dirty="0">
                <a:solidFill>
                  <a:srgbClr val="FFFFFF"/>
                </a:solidFill>
                <a:latin typeface="Calibri"/>
              </a:rPr>
              <a:t>12 PASSED</a:t>
            </a:r>
          </a:p>
          <a:p>
            <a:pPr algn="ctr"/>
            <a:r>
              <a:rPr lang="en-US" sz="1000" b="0" dirty="0">
                <a:solidFill>
                  <a:srgbClr val="FFFFFF"/>
                </a:solidFill>
                <a:latin typeface="Calibri"/>
              </a:rPr>
              <a:t>in ~18 minutes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trip"/>
          <p:cNvSpPr>
            <a:spLocks noGrp="1"/>
          </p:cNvSpPr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150000"/>
            <a:ext cx="8458800" cy="580000"/>
          </a:xfrm>
        </p:spPr>
        <p:txBody>
          <a:bodyPr anchor="ctr"/>
          <a:lstStyle/>
          <a:p>
            <a:r>
              <a:rPr lang="en-US" sz="3200" b="1" dirty="0">
                <a:solidFill>
                  <a:srgbClr val="0D1B2A"/>
                </a:solidFill>
                <a:latin typeface="Calibri"/>
              </a:rPr>
              <a:t>Project Test Output – Screenshots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8908EFC-4A09-2FC2-8337-7A460FAECA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6769" y="1201478"/>
            <a:ext cx="6977009" cy="5241852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trip"/>
          <p:cNvSpPr>
            <a:spLocks noGrp="1"/>
          </p:cNvSpPr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150000"/>
            <a:ext cx="8458800" cy="580000"/>
          </a:xfrm>
        </p:spPr>
        <p:txBody>
          <a:bodyPr anchor="ctr"/>
          <a:lstStyle/>
          <a:p>
            <a:r>
              <a:rPr lang="en-US" sz="3200" b="1" dirty="0">
                <a:solidFill>
                  <a:srgbClr val="0D1B2A"/>
                </a:solidFill>
                <a:latin typeface="Calibri"/>
              </a:rPr>
              <a:t>Project Output</a:t>
            </a:r>
          </a:p>
        </p:txBody>
      </p:sp>
      <p:sp>
        <p:nvSpPr>
          <p:cNvPr id="20" name="R1"/>
          <p:cNvSpPr>
            <a:spLocks noGrp="1"/>
          </p:cNvSpPr>
          <p:nvPr/>
        </p:nvSpPr>
        <p:spPr>
          <a:xfrm>
            <a:off x="342900" y="900000"/>
            <a:ext cx="2600000" cy="1400000"/>
          </a:xfrm>
          <a:prstGeom prst="roundRect">
            <a:avLst>
              <a:gd name="adj" fmla="val 16667"/>
            </a:avLst>
          </a:prstGeom>
          <a:solidFill>
            <a:srgbClr val="217346"/>
          </a:solidFill>
          <a:ln>
            <a:noFill/>
          </a:ln>
        </p:spPr>
        <p:txBody>
          <a:bodyPr anchor="ctr"/>
          <a:lstStyle/>
          <a:p>
            <a:pPr algn="ctr"/>
            <a:r>
              <a:rPr lang="en-US" sz="4800" b="1" dirty="0">
                <a:solidFill>
                  <a:srgbClr val="FFFFFF"/>
                </a:solidFill>
                <a:latin typeface="Calibri"/>
              </a:rPr>
              <a:t>12</a:t>
            </a:r>
          </a:p>
          <a:p>
            <a:pPr algn="ctr"/>
            <a:r>
              <a:rPr lang="en-US" sz="1400" b="0" dirty="0">
                <a:solidFill>
                  <a:srgbClr val="FFFFFF"/>
                </a:solidFill>
                <a:latin typeface="Calibri"/>
              </a:rPr>
              <a:t>Tests Passed</a:t>
            </a:r>
          </a:p>
        </p:txBody>
      </p:sp>
      <p:sp>
        <p:nvSpPr>
          <p:cNvPr id="21" name="R2"/>
          <p:cNvSpPr>
            <a:spLocks noGrp="1"/>
          </p:cNvSpPr>
          <p:nvPr/>
        </p:nvSpPr>
        <p:spPr>
          <a:xfrm>
            <a:off x="3220000" y="900000"/>
            <a:ext cx="2600000" cy="1400000"/>
          </a:xfrm>
          <a:prstGeom prst="roundRect">
            <a:avLst>
              <a:gd name="adj" fmla="val 16667"/>
            </a:avLst>
          </a:prstGeom>
          <a:solidFill>
            <a:srgbClr val="00B4D8"/>
          </a:solidFill>
          <a:ln>
            <a:noFill/>
          </a:ln>
        </p:spPr>
        <p:txBody>
          <a:bodyPr anchor="ctr"/>
          <a:lstStyle/>
          <a:p>
            <a:pPr algn="ctr"/>
            <a:r>
              <a:rPr lang="en-US" sz="4800" b="1" dirty="0">
                <a:solidFill>
                  <a:srgbClr val="FFFFFF"/>
                </a:solidFill>
                <a:latin typeface="Calibri"/>
              </a:rPr>
              <a:t>0</a:t>
            </a:r>
          </a:p>
          <a:p>
            <a:pPr algn="ctr"/>
            <a:r>
              <a:rPr lang="en-US" sz="1400" b="0" dirty="0">
                <a:solidFill>
                  <a:srgbClr val="FFFFFF"/>
                </a:solidFill>
                <a:latin typeface="Calibri"/>
              </a:rPr>
              <a:t>Tests Failed</a:t>
            </a:r>
          </a:p>
        </p:txBody>
      </p:sp>
      <p:sp>
        <p:nvSpPr>
          <p:cNvPr id="22" name="R3"/>
          <p:cNvSpPr>
            <a:spLocks noGrp="1"/>
          </p:cNvSpPr>
          <p:nvPr/>
        </p:nvSpPr>
        <p:spPr>
          <a:xfrm>
            <a:off x="6100000" y="900000"/>
            <a:ext cx="2700000" cy="1400000"/>
          </a:xfrm>
          <a:prstGeom prst="roundRect">
            <a:avLst>
              <a:gd name="adj" fmla="val 16667"/>
            </a:avLst>
          </a:prstGeom>
          <a:solidFill>
            <a:srgbClr val="0D1B2A"/>
          </a:solidFill>
          <a:ln w="25400">
            <a:solidFill>
              <a:srgbClr val="00B4D8"/>
            </a:solidFill>
          </a:ln>
        </p:spPr>
        <p:txBody>
          <a:bodyPr anchor="ctr"/>
          <a:lstStyle/>
          <a:p>
            <a:pPr algn="ctr"/>
            <a:r>
              <a:rPr lang="en-US" sz="3200" b="1" dirty="0">
                <a:solidFill>
                  <a:srgbClr val="00B4D8"/>
                </a:solidFill>
                <a:latin typeface="Calibri"/>
              </a:rPr>
              <a:t>18:01</a:t>
            </a:r>
          </a:p>
          <a:p>
            <a:pPr algn="ctr"/>
            <a:r>
              <a:rPr lang="en-US" sz="1400" b="0" dirty="0">
                <a:solidFill>
                  <a:srgbClr val="FFFFFF"/>
                </a:solidFill>
                <a:latin typeface="Calibri"/>
              </a:rPr>
              <a:t>Total Run Time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2900" y="2500000"/>
            <a:ext cx="8458800" cy="2400000"/>
          </a:xfrm>
        </p:spPr>
        <p:txBody>
          <a:bodyPr/>
          <a:lstStyle/>
          <a:p>
            <a:r>
              <a:rPr lang="en-US" sz="1300" b="1" dirty="0">
                <a:solidFill>
                  <a:srgbClr val="0D1B2A"/>
                </a:solidFill>
                <a:latin typeface="Calibri"/>
              </a:rPr>
              <a:t>Test Results Summary</a:t>
            </a:r>
          </a:p>
          <a:p>
            <a:r>
              <a:rPr lang="en-US" sz="1100" b="0" dirty="0">
                <a:solidFill>
                  <a:srgbClr val="217346"/>
                </a:solidFill>
                <a:latin typeface="Calibri"/>
              </a:rPr>
              <a:t>TC-01 ✓  Page Loads   |  TC-02 ✓  Select Cities   |  TC-03 ✓  Future Date   |  TC-04 ✓  Passengers</a:t>
            </a:r>
          </a:p>
          <a:p>
            <a:r>
              <a:rPr lang="en-US" sz="1100" b="0" dirty="0">
                <a:solidFill>
                  <a:srgbClr val="217346"/>
                </a:solidFill>
                <a:latin typeface="Calibri"/>
              </a:rPr>
              <a:t>TC-05 ✓  No Past Date  |  TC-06 ✓  OneWay Search  |  TC-07 ✓  Results Shown  |  TC-08 ✓  Price Shown</a:t>
            </a:r>
          </a:p>
          <a:p>
            <a:r>
              <a:rPr lang="en-US" sz="1100" b="0" dirty="0">
                <a:solidFill>
                  <a:srgbClr val="217346"/>
                </a:solidFill>
                <a:latin typeface="Calibri"/>
              </a:rPr>
              <a:t>TC-09 ✓  RoundTrip Search  |  TC-10 ✓  RoundTrip Prices  |  TC-11 ✓  E2E OneWay  |  TC-12 ✓  E2E RoundTrip</a:t>
            </a:r>
          </a:p>
          <a:p>
            <a:endParaRPr/>
          </a:p>
          <a:p>
            <a:r>
              <a:rPr lang="en-US" sz="1100" b="1" dirty="0">
                <a:solidFill>
                  <a:srgbClr val="0D1B2A"/>
                </a:solidFill>
                <a:latin typeface="Calibri"/>
              </a:rPr>
              <a:t>TC-11 OneWay E2E: </a:t>
            </a:r>
            <a:r>
              <a:rPr lang="en-US" sz="1100" b="0" dirty="0">
                <a:solidFill>
                  <a:srgbClr val="1A1A2E"/>
                </a:solidFill>
                <a:latin typeface="Calibri"/>
              </a:rPr>
              <a:t>Invoice #75700246 | USD 28,490.70 | John Doe | Booking Confirmed | Payment Paid</a:t>
            </a:r>
          </a:p>
          <a:p>
            <a:r>
              <a:rPr lang="en-US" sz="1100" b="1" dirty="0">
                <a:solidFill>
                  <a:srgbClr val="0D1B2A"/>
                </a:solidFill>
                <a:latin typeface="Calibri"/>
              </a:rPr>
              <a:t>TC-12 RoundTrip E2E: </a:t>
            </a:r>
            <a:r>
              <a:rPr lang="en-US" sz="1100" b="0" dirty="0">
                <a:solidFill>
                  <a:srgbClr val="1A1A2E"/>
                </a:solidFill>
                <a:latin typeface="Calibri"/>
              </a:rPr>
              <a:t>Invoice #90514852 | USD 56,463.32 | Jane Smith | Booking Confirmed | Payment Paid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trip"/>
          <p:cNvSpPr>
            <a:spLocks noGrp="1"/>
          </p:cNvSpPr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B85042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150000"/>
            <a:ext cx="8458800" cy="580000"/>
          </a:xfrm>
        </p:spPr>
        <p:txBody>
          <a:bodyPr anchor="ctr"/>
          <a:lstStyle/>
          <a:p>
            <a:r>
              <a:rPr lang="en-US" sz="3200" b="1" dirty="0">
                <a:solidFill>
                  <a:srgbClr val="0D1B2A"/>
                </a:solidFill>
                <a:latin typeface="Calibri"/>
              </a:rPr>
              <a:t>Challenges Faced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2900" y="870000"/>
            <a:ext cx="8458800" cy="4000000"/>
          </a:xfrm>
        </p:spPr>
        <p:txBody>
          <a:bodyPr lIns="180000" tIns="180000" rIns="180000" bIns="180000"/>
          <a:lstStyle/>
          <a:p>
            <a:r>
              <a:rPr lang="en-US" sz="1400" b="1" dirty="0">
                <a:solidFill>
                  <a:srgbClr val="B85042"/>
                </a:solidFill>
                <a:latin typeface="Calibri"/>
              </a:rPr>
              <a:t>1.  Dynamic Autocomplete Dropdowns (BOM / DEL)</a:t>
            </a:r>
          </a:p>
          <a:p>
            <a:r>
              <a:rPr lang="en-US" sz="1200" b="0" dirty="0">
                <a:solidFill>
                  <a:srgbClr val="1A1A2E"/>
                </a:solidFill>
                <a:latin typeface="Calibri"/>
              </a:rPr>
              <a:t>    Angular ng-select dropdowns did not fire on send_keys. Resolved with 4-second WebDriverWait + fallback to URL construction (bom/del/oneway).</a:t>
            </a:r>
          </a:p>
          <a:p>
            <a:endParaRPr/>
          </a:p>
          <a:p>
            <a:r>
              <a:rPr lang="en-US" sz="1400" b="1" dirty="0">
                <a:solidFill>
                  <a:srgbClr val="B85042"/>
                </a:solidFill>
                <a:latin typeface="Calibri"/>
              </a:rPr>
              <a:t>2.  Stripe Checkout iframe + Card Entry</a:t>
            </a:r>
          </a:p>
          <a:p>
            <a:r>
              <a:rPr lang="en-US" sz="1200" b="0" dirty="0">
                <a:solidFill>
                  <a:srgbClr val="1A1A2E"/>
                </a:solidFill>
                <a:latin typeface="Calibri"/>
              </a:rPr>
              <a:t>    Stripe fields require JS click + Ctrl+A+Delete + send_keys with ActionChains fallback to type card number correctly.</a:t>
            </a:r>
          </a:p>
          <a:p>
            <a:endParaRPr/>
          </a:p>
          <a:p>
            <a:r>
              <a:rPr lang="en-US" sz="1400" b="1" dirty="0">
                <a:solidFill>
                  <a:srgbClr val="B85042"/>
                </a:solidFill>
                <a:latin typeface="Calibri"/>
              </a:rPr>
              <a:t>3.  Download Invoice Button Not Found</a:t>
            </a:r>
          </a:p>
          <a:p>
            <a:r>
              <a:rPr lang="en-US" sz="1200" b="0" dirty="0">
                <a:solidFill>
                  <a:srgbClr val="1A1A2E"/>
                </a:solidFill>
                <a:latin typeface="Calibri"/>
              </a:rPr>
              <a:t>    SVG icon inside button caused textContent mismatch. Fixed by using JS innerText scan which returns only visible rendered text.</a:t>
            </a:r>
          </a:p>
          <a:p>
            <a:endParaRPr/>
          </a:p>
          <a:p>
            <a:r>
              <a:rPr lang="en-US" sz="1400" b="1" dirty="0">
                <a:solidFill>
                  <a:srgbClr val="B85042"/>
                </a:solidFill>
                <a:latin typeface="Calibri"/>
              </a:rPr>
              <a:t>4.  Passport Field React Controlled Input</a:t>
            </a:r>
          </a:p>
          <a:p>
            <a:r>
              <a:rPr lang="en-US" sz="1200" b="0" dirty="0">
                <a:solidFill>
                  <a:srgbClr val="1A1A2E"/>
                </a:solidFill>
                <a:latin typeface="Calibri"/>
              </a:rPr>
              <a:t>    React nativeInputValueSetter + dispatchEvent required to set passport value when send_keys was blocked by framework.</a:t>
            </a:r>
          </a:p>
          <a:p>
            <a:endParaRPr/>
          </a:p>
          <a:p>
            <a:r>
              <a:rPr lang="en-US" sz="1400" b="1" dirty="0">
                <a:solidFill>
                  <a:srgbClr val="B85042"/>
                </a:solidFill>
                <a:latin typeface="Calibri"/>
              </a:rPr>
              <a:t>5.  Parallel Execution — Screenshot File Collisions</a:t>
            </a:r>
          </a:p>
          <a:p>
            <a:r>
              <a:rPr lang="en-US" sz="1200" b="0" dirty="0">
                <a:solidFill>
                  <a:srgbClr val="1A1A2E"/>
                </a:solidFill>
                <a:latin typeface="Calibri"/>
              </a:rPr>
              <a:t>    pytest-xdist workers overwrote each other’s screenshots. Fixed with per-worker directories: screenshots/gw0/, screenshots/gw1/.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trip"/>
          <p:cNvSpPr>
            <a:spLocks noGrp="1"/>
          </p:cNvSpPr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150000"/>
            <a:ext cx="8458800" cy="580000"/>
          </a:xfrm>
        </p:spPr>
        <p:txBody>
          <a:bodyPr anchor="ctr"/>
          <a:lstStyle/>
          <a:p>
            <a:r>
              <a:rPr lang="en-US" sz="3200" b="1" dirty="0">
                <a:solidFill>
                  <a:srgbClr val="0D1B2A"/>
                </a:solidFill>
                <a:latin typeface="Calibri"/>
              </a:rPr>
              <a:t>Future Enhancements</a:t>
            </a:r>
          </a:p>
        </p:txBody>
      </p:sp>
      <p:sp>
        <p:nvSpPr>
          <p:cNvPr id="20" name="E1"/>
          <p:cNvSpPr>
            <a:spLocks noGrp="1"/>
          </p:cNvSpPr>
          <p:nvPr/>
        </p:nvSpPr>
        <p:spPr>
          <a:xfrm>
            <a:off x="342900" y="880000"/>
            <a:ext cx="8458800" cy="750000"/>
          </a:xfrm>
          <a:prstGeom prst="roundRect">
            <a:avLst>
              <a:gd name="adj" fmla="val 10000"/>
            </a:avLst>
          </a:prstGeom>
          <a:solidFill>
            <a:srgbClr val="EAF4FB"/>
          </a:solidFill>
          <a:ln w="18000">
            <a:solidFill>
              <a:srgbClr val="028090"/>
            </a:solidFill>
          </a:ln>
        </p:spPr>
        <p:txBody>
          <a:bodyPr lIns="250000" tIns="120000" rIns="180000" bIns="120000" anchor="ctr"/>
          <a:lstStyle/>
          <a:p>
            <a:r>
              <a:rPr lang="en-US" sz="1400" b="1" dirty="0">
                <a:solidFill>
                  <a:srgbClr val="028090"/>
                </a:solidFill>
                <a:latin typeface="Calibri"/>
              </a:rPr>
              <a:t>📌  CI/CD Pipeline Integration</a:t>
            </a:r>
            <a:r>
              <a:rPr lang="en-US" sz="1200" b="0" dirty="0">
                <a:solidFill>
                  <a:srgbClr val="1A1A2E"/>
                </a:solidFill>
                <a:latin typeface="Calibri"/>
              </a:rPr>
              <a:t>  —  GitHub Actions / Jenkins auto-trigger on every code push</a:t>
            </a:r>
          </a:p>
        </p:txBody>
      </p:sp>
      <p:sp>
        <p:nvSpPr>
          <p:cNvPr id="21" name="E2"/>
          <p:cNvSpPr>
            <a:spLocks noGrp="1"/>
          </p:cNvSpPr>
          <p:nvPr/>
        </p:nvSpPr>
        <p:spPr>
          <a:xfrm>
            <a:off x="342900" y="1720000"/>
            <a:ext cx="8458800" cy="750000"/>
          </a:xfrm>
          <a:prstGeom prst="roundRect">
            <a:avLst>
              <a:gd name="adj" fmla="val 10000"/>
            </a:avLst>
          </a:prstGeom>
          <a:solidFill>
            <a:srgbClr val="EAF4FB"/>
          </a:solidFill>
          <a:ln w="18000">
            <a:solidFill>
              <a:srgbClr val="028090"/>
            </a:solidFill>
          </a:ln>
        </p:spPr>
        <p:txBody>
          <a:bodyPr lIns="250000" tIns="120000" rIns="180000" bIns="120000" anchor="ctr"/>
          <a:lstStyle/>
          <a:p>
            <a:r>
              <a:rPr lang="en-US" sz="1400" b="1" dirty="0">
                <a:solidFill>
                  <a:srgbClr val="028090"/>
                </a:solidFill>
                <a:latin typeface="Calibri"/>
              </a:rPr>
              <a:t>📌  Cross-Browser Testing</a:t>
            </a:r>
            <a:r>
              <a:rPr lang="en-US" sz="1200" b="0" dirty="0">
                <a:solidFill>
                  <a:srgbClr val="1A1A2E"/>
                </a:solidFill>
                <a:latin typeface="Calibri"/>
              </a:rPr>
              <a:t>  —  Extend to Firefox and Edge using WebDriver parameterization</a:t>
            </a:r>
          </a:p>
        </p:txBody>
      </p:sp>
      <p:sp>
        <p:nvSpPr>
          <p:cNvPr id="22" name="E3"/>
          <p:cNvSpPr>
            <a:spLocks noGrp="1"/>
          </p:cNvSpPr>
          <p:nvPr/>
        </p:nvSpPr>
        <p:spPr>
          <a:xfrm>
            <a:off x="342900" y="2560000"/>
            <a:ext cx="8458800" cy="750000"/>
          </a:xfrm>
          <a:prstGeom prst="roundRect">
            <a:avLst>
              <a:gd name="adj" fmla="val 10000"/>
            </a:avLst>
          </a:prstGeom>
          <a:solidFill>
            <a:srgbClr val="EAF4FB"/>
          </a:solidFill>
          <a:ln w="18000">
            <a:solidFill>
              <a:srgbClr val="028090"/>
            </a:solidFill>
          </a:ln>
        </p:spPr>
        <p:txBody>
          <a:bodyPr lIns="250000" tIns="120000" rIns="180000" bIns="120000" anchor="ctr"/>
          <a:lstStyle/>
          <a:p>
            <a:r>
              <a:rPr lang="en-US" sz="1400" b="1" dirty="0">
                <a:solidFill>
                  <a:srgbClr val="028090"/>
                </a:solidFill>
                <a:latin typeface="Calibri"/>
              </a:rPr>
              <a:t>📌  Expand to Hotels and Car Rentals</a:t>
            </a:r>
            <a:r>
              <a:rPr lang="en-US" sz="1200" b="0" dirty="0">
                <a:solidFill>
                  <a:srgbClr val="1A1A2E"/>
                </a:solidFill>
                <a:latin typeface="Calibri"/>
              </a:rPr>
              <a:t>  —  Add page objects and test cases for other phptravels.net modules</a:t>
            </a:r>
          </a:p>
        </p:txBody>
      </p:sp>
      <p:sp>
        <p:nvSpPr>
          <p:cNvPr id="23" name="E4"/>
          <p:cNvSpPr>
            <a:spLocks noGrp="1"/>
          </p:cNvSpPr>
          <p:nvPr/>
        </p:nvSpPr>
        <p:spPr>
          <a:xfrm>
            <a:off x="342900" y="3400000"/>
            <a:ext cx="8458800" cy="750000"/>
          </a:xfrm>
          <a:prstGeom prst="roundRect">
            <a:avLst>
              <a:gd name="adj" fmla="val 10000"/>
            </a:avLst>
          </a:prstGeom>
          <a:solidFill>
            <a:srgbClr val="EAF4FB"/>
          </a:solidFill>
          <a:ln w="18000">
            <a:solidFill>
              <a:srgbClr val="028090"/>
            </a:solidFill>
          </a:ln>
        </p:spPr>
        <p:txBody>
          <a:bodyPr lIns="250000" tIns="120000" rIns="180000" bIns="120000" anchor="ctr"/>
          <a:lstStyle/>
          <a:p>
            <a:r>
              <a:rPr lang="en-US" sz="1400" b="1" dirty="0">
                <a:solidFill>
                  <a:srgbClr val="028090"/>
                </a:solidFill>
                <a:latin typeface="Calibri"/>
              </a:rPr>
              <a:t>📌  Allure Reporting + Headless Mode</a:t>
            </a:r>
            <a:r>
              <a:rPr lang="en-US" sz="1200" b="0" dirty="0">
                <a:solidFill>
                  <a:srgbClr val="1A1A2E"/>
                </a:solidFill>
                <a:latin typeface="Calibri"/>
              </a:rPr>
              <a:t>  —  Rich Allure dashboards and headless Chrome for server execution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Bg"/>
          <p:cNvSpPr>
            <a:spLocks noGrp="1"/>
          </p:cNvSpPr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1" name="TopBar"/>
          <p:cNvSpPr>
            <a:spLocks noGrp="1"/>
          </p:cNvSpPr>
          <p:nvPr/>
        </p:nvSpPr>
        <p:spPr>
          <a:xfrm>
            <a:off x="0" y="0"/>
            <a:ext cx="9144000" cy="180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2" name="BotBar"/>
          <p:cNvSpPr>
            <a:spLocks noGrp="1"/>
          </p:cNvSpPr>
          <p:nvPr/>
        </p:nvSpPr>
        <p:spPr>
          <a:xfrm>
            <a:off x="0" y="4963500"/>
            <a:ext cx="9144000" cy="180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420000"/>
            <a:ext cx="8458800" cy="700000"/>
          </a:xfrm>
        </p:spPr>
        <p:txBody>
          <a:bodyPr anchor="ctr"/>
          <a:lstStyle/>
          <a:p>
            <a:pPr algn="ctr"/>
            <a:r>
              <a:rPr lang="en-US" sz="4000" b="1" dirty="0">
                <a:solidFill>
                  <a:srgbClr val="FFFFFF"/>
                </a:solidFill>
                <a:latin typeface="Calibri"/>
              </a:rP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80000"/>
            <a:ext cx="8229600" cy="2200000"/>
          </a:xfrm>
        </p:spPr>
        <p:txBody>
          <a:bodyPr lIns="180000" tIns="180000" rIns="180000" bIns="180000"/>
          <a:lstStyle/>
          <a:p>
            <a:pPr algn="ctr"/>
            <a:r>
              <a:rPr lang="en-US" sz="1300" b="0" dirty="0">
                <a:solidFill>
                  <a:srgbClr val="CADCFC"/>
                </a:solidFill>
                <a:latin typeface="Calibri"/>
              </a:rPr>
              <a:t>This project successfully built a production-quality Selenium + Python automation framework</a:t>
            </a:r>
          </a:p>
          <a:p>
            <a:pPr algn="ctr"/>
            <a:r>
              <a:rPr lang="en-US" sz="1300" b="0" dirty="0">
                <a:solidFill>
                  <a:srgbClr val="CADCFC"/>
                </a:solidFill>
                <a:latin typeface="Calibri"/>
              </a:rPr>
              <a:t>for end-to-end flight booking on phptravels.net. All 12 test cases pass consistently,</a:t>
            </a:r>
          </a:p>
          <a:p>
            <a:pPr algn="ctr"/>
            <a:r>
              <a:rPr lang="en-US" sz="1300" b="0" dirty="0">
                <a:solidFill>
                  <a:srgbClr val="CADCFC"/>
                </a:solidFill>
                <a:latin typeface="Calibri"/>
              </a:rPr>
              <a:t>covering smoke validation, search flows, and full E2E booking with Stripe payment.</a:t>
            </a:r>
          </a:p>
          <a:p>
            <a:endParaRPr/>
          </a:p>
          <a:p>
            <a:pPr algn="ctr"/>
            <a:r>
              <a:rPr lang="en-US" sz="1300" b="0" dirty="0">
                <a:solidFill>
                  <a:srgbClr val="CADCFC"/>
                </a:solidFill>
                <a:latin typeface="Calibri"/>
              </a:rPr>
              <a:t>The Page Object Model architecture, Excel data management, parallel execution,</a:t>
            </a:r>
          </a:p>
          <a:p>
            <a:pPr algn="ctr"/>
            <a:r>
              <a:rPr lang="en-US" sz="1300" b="0" dirty="0">
                <a:solidFill>
                  <a:srgbClr val="CADCFC"/>
                </a:solidFill>
                <a:latin typeface="Calibri"/>
              </a:rPr>
              <a:t>and detailed HTML reports make this framework ready for real-world QA use.</a:t>
            </a:r>
          </a:p>
        </p:txBody>
      </p:sp>
      <p:sp>
        <p:nvSpPr>
          <p:cNvPr id="20" name="P1"/>
          <p:cNvSpPr>
            <a:spLocks noGrp="1"/>
          </p:cNvSpPr>
          <p:nvPr/>
        </p:nvSpPr>
        <p:spPr>
          <a:xfrm>
            <a:off x="600000" y="3680000"/>
            <a:ext cx="2400000" cy="1000000"/>
          </a:xfrm>
          <a:prstGeom prst="roundRect">
            <a:avLst>
              <a:gd name="adj" fmla="val 25000"/>
            </a:avLst>
          </a:prstGeom>
          <a:solidFill>
            <a:srgbClr val="217346"/>
          </a:solidFill>
          <a:ln>
            <a:noFill/>
          </a:ln>
        </p:spPr>
        <p:txBody>
          <a:bodyPr anchor="ctr"/>
          <a:lstStyle/>
          <a:p>
            <a:pPr algn="ctr"/>
            <a:r>
              <a:rPr lang="en-US" sz="2800" b="1" dirty="0">
                <a:solidFill>
                  <a:srgbClr val="FFFFFF"/>
                </a:solidFill>
                <a:latin typeface="Calibri"/>
              </a:rPr>
              <a:t>12 / 12</a:t>
            </a:r>
          </a:p>
          <a:p>
            <a:pPr algn="ctr"/>
            <a:r>
              <a:rPr lang="en-US" sz="1100" b="0" dirty="0">
                <a:solidFill>
                  <a:srgbClr val="FFFFFF"/>
                </a:solidFill>
                <a:latin typeface="Calibri"/>
              </a:rPr>
              <a:t>Tests Passing</a:t>
            </a:r>
          </a:p>
        </p:txBody>
      </p:sp>
      <p:sp>
        <p:nvSpPr>
          <p:cNvPr id="21" name="P2"/>
          <p:cNvSpPr>
            <a:spLocks noGrp="1"/>
          </p:cNvSpPr>
          <p:nvPr/>
        </p:nvSpPr>
        <p:spPr>
          <a:xfrm>
            <a:off x="3372000" y="3680000"/>
            <a:ext cx="2400000" cy="1000000"/>
          </a:xfrm>
          <a:prstGeom prst="roundRect">
            <a:avLst>
              <a:gd name="adj" fmla="val 25000"/>
            </a:avLst>
          </a:prstGeom>
          <a:solidFill>
            <a:srgbClr val="00B4D8"/>
          </a:solidFill>
          <a:ln>
            <a:noFill/>
          </a:ln>
        </p:spPr>
        <p:txBody>
          <a:bodyPr anchor="ctr"/>
          <a:lstStyle/>
          <a:p>
            <a:pPr algn="ctr"/>
            <a:r>
              <a:rPr lang="en-US" sz="2800" b="1" dirty="0">
                <a:solidFill>
                  <a:srgbClr val="FFFFFF"/>
                </a:solidFill>
                <a:latin typeface="Calibri"/>
              </a:rPr>
              <a:t>5</a:t>
            </a:r>
          </a:p>
          <a:p>
            <a:pPr algn="ctr"/>
            <a:r>
              <a:rPr lang="en-US" sz="1100" b="0" dirty="0">
                <a:solidFill>
                  <a:srgbClr val="FFFFFF"/>
                </a:solidFill>
                <a:latin typeface="Calibri"/>
              </a:rPr>
              <a:t>Page Object Classes</a:t>
            </a:r>
          </a:p>
        </p:txBody>
      </p:sp>
      <p:sp>
        <p:nvSpPr>
          <p:cNvPr id="22" name="P3"/>
          <p:cNvSpPr>
            <a:spLocks noGrp="1"/>
          </p:cNvSpPr>
          <p:nvPr/>
        </p:nvSpPr>
        <p:spPr>
          <a:xfrm>
            <a:off x="6144000" y="3680000"/>
            <a:ext cx="2400000" cy="1000000"/>
          </a:xfrm>
          <a:prstGeom prst="roundRect">
            <a:avLst>
              <a:gd name="adj" fmla="val 25000"/>
            </a:avLst>
          </a:prstGeom>
          <a:solidFill>
            <a:srgbClr val="028090"/>
          </a:solidFill>
          <a:ln>
            <a:noFill/>
          </a:ln>
        </p:spPr>
        <p:txBody>
          <a:bodyPr anchor="ctr"/>
          <a:lstStyle/>
          <a:p>
            <a:pPr algn="ctr"/>
            <a:r>
              <a:rPr lang="en-US" sz="2800" b="1" dirty="0">
                <a:solidFill>
                  <a:srgbClr val="FFFFFF"/>
                </a:solidFill>
                <a:latin typeface="Calibri"/>
              </a:rPr>
              <a:t>9 Steps</a:t>
            </a:r>
          </a:p>
          <a:p>
            <a:pPr algn="ctr"/>
            <a:r>
              <a:rPr lang="en-US" sz="1100" b="0" dirty="0">
                <a:solidFill>
                  <a:srgbClr val="FFFFFF"/>
                </a:solidFill>
                <a:latin typeface="Calibri"/>
              </a:rPr>
              <a:t>E2E Booking Flow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63</TotalTime>
  <Words>908</Words>
  <Application>Microsoft Office PowerPoint</Application>
  <PresentationFormat>On-screen Show (4:3)</PresentationFormat>
  <Paragraphs>149</Paragraphs>
  <Slides>11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Web Automation using Selenium with Python</vt:lpstr>
      <vt:lpstr>Problem Statement</vt:lpstr>
      <vt:lpstr>Project Objectives</vt:lpstr>
      <vt:lpstr>Tools and Technologies Used</vt:lpstr>
      <vt:lpstr>Automation Framework Architecture</vt:lpstr>
      <vt:lpstr>Project Workflow</vt:lpstr>
      <vt:lpstr>Project Test Output – Screenshots</vt:lpstr>
      <vt:lpstr>Project Output</vt:lpstr>
      <vt:lpstr>Challenges Faced</vt:lpstr>
      <vt:lpstr>Future Enhancements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Alle Sujan Kumar Reddy</cp:lastModifiedBy>
  <cp:revision>10</cp:revision>
  <dcterms:created xsi:type="dcterms:W3CDTF">2013-01-27T09:14:16Z</dcterms:created>
  <dcterms:modified xsi:type="dcterms:W3CDTF">2026-03-11T11:38:26Z</dcterms:modified>
  <cp:category/>
</cp:coreProperties>
</file>